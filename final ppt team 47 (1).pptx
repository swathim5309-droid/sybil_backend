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  <p:sldMasterId id="2147483664" r:id="rId2"/>
    <p:sldMasterId id="2147483671" r:id="rId3"/>
  </p:sldMasterIdLst>
  <p:notesMasterIdLst>
    <p:notesMasterId r:id="rId24"/>
  </p:notesMasterIdLst>
  <p:sldIdLst>
    <p:sldId id="284" r:id="rId4"/>
    <p:sldId id="263" r:id="rId5"/>
    <p:sldId id="282" r:id="rId6"/>
    <p:sldId id="259" r:id="rId7"/>
    <p:sldId id="290" r:id="rId8"/>
    <p:sldId id="260" r:id="rId9"/>
    <p:sldId id="278" r:id="rId10"/>
    <p:sldId id="281" r:id="rId11"/>
    <p:sldId id="279" r:id="rId12"/>
    <p:sldId id="295" r:id="rId13"/>
    <p:sldId id="289" r:id="rId14"/>
    <p:sldId id="291" r:id="rId15"/>
    <p:sldId id="293" r:id="rId16"/>
    <p:sldId id="294" r:id="rId17"/>
    <p:sldId id="264" r:id="rId18"/>
    <p:sldId id="285" r:id="rId19"/>
    <p:sldId id="277" r:id="rId20"/>
    <p:sldId id="280" r:id="rId21"/>
    <p:sldId id="288" r:id="rId22"/>
    <p:sldId id="27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3" orient="horz" pos="792" userDrawn="1">
          <p15:clr>
            <a:srgbClr val="A4A3A4"/>
          </p15:clr>
        </p15:guide>
        <p15:guide id="4" pos="288" userDrawn="1">
          <p15:clr>
            <a:srgbClr val="A4A3A4"/>
          </p15:clr>
        </p15:guide>
        <p15:guide id="5" orient="horz" pos="600" userDrawn="1">
          <p15:clr>
            <a:srgbClr val="A4A3A4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E60000"/>
    <a:srgbClr val="FFF7F7"/>
    <a:srgbClr val="FFEFEF"/>
    <a:srgbClr val="FFC7C7"/>
    <a:srgbClr val="FF0000"/>
    <a:srgbClr val="F2B300"/>
    <a:srgbClr val="45CDD7"/>
    <a:srgbClr val="FF717F"/>
    <a:srgbClr val="FFB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8ECDE4-461C-4D38-8C16-F65355E3BB6B}" v="1" dt="2026-02-12T12:47:45.38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322"/>
      </p:cViewPr>
      <p:guideLst>
        <p:guide orient="horz" pos="792"/>
        <p:guide pos="288"/>
        <p:guide orient="horz" pos="6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bhi R" userId="9e240a9ccb6a7b97" providerId="LiveId" clId="{57AECAD3-9072-4BC6-B317-28145B716AEF}"/>
    <pc:docChg chg="custSel addSld modSld">
      <pc:chgData name="Surabhi R" userId="9e240a9ccb6a7b97" providerId="LiveId" clId="{57AECAD3-9072-4BC6-B317-28145B716AEF}" dt="2026-02-12T12:49:55.488" v="9" actId="1076"/>
      <pc:docMkLst>
        <pc:docMk/>
      </pc:docMkLst>
      <pc:sldChg chg="addSp delSp modSp mod">
        <pc:chgData name="Surabhi R" userId="9e240a9ccb6a7b97" providerId="LiveId" clId="{57AECAD3-9072-4BC6-B317-28145B716AEF}" dt="2026-02-12T12:49:55.488" v="9" actId="1076"/>
        <pc:sldMkLst>
          <pc:docMk/>
          <pc:sldMk cId="2772501912" sldId="279"/>
        </pc:sldMkLst>
        <pc:spChg chg="del">
          <ac:chgData name="Surabhi R" userId="9e240a9ccb6a7b97" providerId="LiveId" clId="{57AECAD3-9072-4BC6-B317-28145B716AEF}" dt="2026-02-12T12:47:28.212" v="2" actId="478"/>
          <ac:spMkLst>
            <pc:docMk/>
            <pc:sldMk cId="2772501912" sldId="279"/>
            <ac:spMk id="3" creationId="{FD176454-AE25-9C34-AD50-64F67479859B}"/>
          </ac:spMkLst>
        </pc:spChg>
        <pc:spChg chg="del">
          <ac:chgData name="Surabhi R" userId="9e240a9ccb6a7b97" providerId="LiveId" clId="{57AECAD3-9072-4BC6-B317-28145B716AEF}" dt="2026-02-12T12:47:28.212" v="2" actId="478"/>
          <ac:spMkLst>
            <pc:docMk/>
            <pc:sldMk cId="2772501912" sldId="279"/>
            <ac:spMk id="4" creationId="{88695E6C-C494-DF5D-975B-43BDD6EC50CA}"/>
          </ac:spMkLst>
        </pc:spChg>
        <pc:spChg chg="del">
          <ac:chgData name="Surabhi R" userId="9e240a9ccb6a7b97" providerId="LiveId" clId="{57AECAD3-9072-4BC6-B317-28145B716AEF}" dt="2026-02-12T12:47:33.324" v="3" actId="478"/>
          <ac:spMkLst>
            <pc:docMk/>
            <pc:sldMk cId="2772501912" sldId="279"/>
            <ac:spMk id="5" creationId="{CE79D079-D3DC-1538-6F62-FB6C4084C158}"/>
          </ac:spMkLst>
        </pc:spChg>
        <pc:spChg chg="del">
          <ac:chgData name="Surabhi R" userId="9e240a9ccb6a7b97" providerId="LiveId" clId="{57AECAD3-9072-4BC6-B317-28145B716AEF}" dt="2026-02-12T12:47:28.212" v="2" actId="478"/>
          <ac:spMkLst>
            <pc:docMk/>
            <pc:sldMk cId="2772501912" sldId="279"/>
            <ac:spMk id="6" creationId="{381A4D6D-6C70-9983-E06A-44F7AD873807}"/>
          </ac:spMkLst>
        </pc:spChg>
        <pc:spChg chg="add mod">
          <ac:chgData name="Surabhi R" userId="9e240a9ccb6a7b97" providerId="LiveId" clId="{57AECAD3-9072-4BC6-B317-28145B716AEF}" dt="2026-02-12T12:47:57.043" v="5" actId="1076"/>
          <ac:spMkLst>
            <pc:docMk/>
            <pc:sldMk cId="2772501912" sldId="279"/>
            <ac:spMk id="7" creationId="{7B74E7D8-6D31-F549-A167-79C8FADC723F}"/>
          </ac:spMkLst>
        </pc:spChg>
        <pc:spChg chg="add mod">
          <ac:chgData name="Surabhi R" userId="9e240a9ccb6a7b97" providerId="LiveId" clId="{57AECAD3-9072-4BC6-B317-28145B716AEF}" dt="2026-02-12T12:47:57.043" v="5" actId="1076"/>
          <ac:spMkLst>
            <pc:docMk/>
            <pc:sldMk cId="2772501912" sldId="279"/>
            <ac:spMk id="8" creationId="{07A682EA-3F70-FFD1-26B1-F656D0B7DAD9}"/>
          </ac:spMkLst>
        </pc:spChg>
        <pc:spChg chg="add mod">
          <ac:chgData name="Surabhi R" userId="9e240a9ccb6a7b97" providerId="LiveId" clId="{57AECAD3-9072-4BC6-B317-28145B716AEF}" dt="2026-02-12T12:47:57.043" v="5" actId="1076"/>
          <ac:spMkLst>
            <pc:docMk/>
            <pc:sldMk cId="2772501912" sldId="279"/>
            <ac:spMk id="13" creationId="{DEE6A5F8-E60E-E3C9-5CC4-D98A476971CF}"/>
          </ac:spMkLst>
        </pc:spChg>
        <pc:spChg chg="add mod">
          <ac:chgData name="Surabhi R" userId="9e240a9ccb6a7b97" providerId="LiveId" clId="{57AECAD3-9072-4BC6-B317-28145B716AEF}" dt="2026-02-12T12:47:57.043" v="5" actId="1076"/>
          <ac:spMkLst>
            <pc:docMk/>
            <pc:sldMk cId="2772501912" sldId="279"/>
            <ac:spMk id="14" creationId="{A5713D97-5CE2-1384-B277-98F2F5462A03}"/>
          </ac:spMkLst>
        </pc:spChg>
        <pc:spChg chg="add mod">
          <ac:chgData name="Surabhi R" userId="9e240a9ccb6a7b97" providerId="LiveId" clId="{57AECAD3-9072-4BC6-B317-28145B716AEF}" dt="2026-02-12T12:49:47.759" v="8" actId="1076"/>
          <ac:spMkLst>
            <pc:docMk/>
            <pc:sldMk cId="2772501912" sldId="279"/>
            <ac:spMk id="16" creationId="{94A74475-9F68-E0F0-9728-934B9CFDFDE2}"/>
          </ac:spMkLst>
        </pc:spChg>
        <pc:spChg chg="mod">
          <ac:chgData name="Surabhi R" userId="9e240a9ccb6a7b97" providerId="LiveId" clId="{57AECAD3-9072-4BC6-B317-28145B716AEF}" dt="2026-02-12T12:49:47.759" v="8" actId="1076"/>
          <ac:spMkLst>
            <pc:docMk/>
            <pc:sldMk cId="2772501912" sldId="279"/>
            <ac:spMk id="17" creationId="{870792AA-9BE5-3E62-5B27-8282020B3C7F}"/>
          </ac:spMkLst>
        </pc:spChg>
        <pc:spChg chg="add mod">
          <ac:chgData name="Surabhi R" userId="9e240a9ccb6a7b97" providerId="LiveId" clId="{57AECAD3-9072-4BC6-B317-28145B716AEF}" dt="2026-02-12T12:49:47.759" v="8" actId="1076"/>
          <ac:spMkLst>
            <pc:docMk/>
            <pc:sldMk cId="2772501912" sldId="279"/>
            <ac:spMk id="21" creationId="{1A007559-7BFD-239C-AECD-FE5A59EAC71E}"/>
          </ac:spMkLst>
        </pc:spChg>
        <pc:spChg chg="mod">
          <ac:chgData name="Surabhi R" userId="9e240a9ccb6a7b97" providerId="LiveId" clId="{57AECAD3-9072-4BC6-B317-28145B716AEF}" dt="2026-02-12T12:49:55.488" v="9" actId="1076"/>
          <ac:spMkLst>
            <pc:docMk/>
            <pc:sldMk cId="2772501912" sldId="279"/>
            <ac:spMk id="22" creationId="{185F59F9-DA51-595A-A080-3F63B5830C16}"/>
          </ac:spMkLst>
        </pc:spChg>
        <pc:spChg chg="mod">
          <ac:chgData name="Surabhi R" userId="9e240a9ccb6a7b97" providerId="LiveId" clId="{57AECAD3-9072-4BC6-B317-28145B716AEF}" dt="2026-02-12T12:49:55.488" v="9" actId="1076"/>
          <ac:spMkLst>
            <pc:docMk/>
            <pc:sldMk cId="2772501912" sldId="279"/>
            <ac:spMk id="23" creationId="{926835F2-F8AA-2E6A-AE85-B44178E2E5AF}"/>
          </ac:spMkLst>
        </pc:spChg>
        <pc:spChg chg="add mod">
          <ac:chgData name="Surabhi R" userId="9e240a9ccb6a7b97" providerId="LiveId" clId="{57AECAD3-9072-4BC6-B317-28145B716AEF}" dt="2026-02-12T12:49:55.488" v="9" actId="1076"/>
          <ac:spMkLst>
            <pc:docMk/>
            <pc:sldMk cId="2772501912" sldId="279"/>
            <ac:spMk id="24" creationId="{52C8D9A1-4650-85BA-A20D-E4C0B6C144D7}"/>
          </ac:spMkLst>
        </pc:spChg>
        <pc:spChg chg="add mod">
          <ac:chgData name="Surabhi R" userId="9e240a9ccb6a7b97" providerId="LiveId" clId="{57AECAD3-9072-4BC6-B317-28145B716AEF}" dt="2026-02-12T12:47:57.043" v="5" actId="1076"/>
          <ac:spMkLst>
            <pc:docMk/>
            <pc:sldMk cId="2772501912" sldId="279"/>
            <ac:spMk id="25" creationId="{1A07DC19-2685-A6AB-E98F-E921C3AE7F53}"/>
          </ac:spMkLst>
        </pc:spChg>
        <pc:spChg chg="add mod">
          <ac:chgData name="Surabhi R" userId="9e240a9ccb6a7b97" providerId="LiveId" clId="{57AECAD3-9072-4BC6-B317-28145B716AEF}" dt="2026-02-12T12:47:57.043" v="5" actId="1076"/>
          <ac:spMkLst>
            <pc:docMk/>
            <pc:sldMk cId="2772501912" sldId="279"/>
            <ac:spMk id="30" creationId="{CEC2C269-1832-C1D3-DAAC-EDC7F93FAD6C}"/>
          </ac:spMkLst>
        </pc:spChg>
        <pc:spChg chg="add mod">
          <ac:chgData name="Surabhi R" userId="9e240a9ccb6a7b97" providerId="LiveId" clId="{57AECAD3-9072-4BC6-B317-28145B716AEF}" dt="2026-02-12T12:47:57.043" v="5" actId="1076"/>
          <ac:spMkLst>
            <pc:docMk/>
            <pc:sldMk cId="2772501912" sldId="279"/>
            <ac:spMk id="31" creationId="{9D5947E5-3446-77D6-7577-BE1748991E2D}"/>
          </ac:spMkLst>
        </pc:spChg>
        <pc:picChg chg="del">
          <ac:chgData name="Surabhi R" userId="9e240a9ccb6a7b97" providerId="LiveId" clId="{57AECAD3-9072-4BC6-B317-28145B716AEF}" dt="2026-02-12T12:47:59.512" v="6" actId="478"/>
          <ac:picMkLst>
            <pc:docMk/>
            <pc:sldMk cId="2772501912" sldId="279"/>
            <ac:picMk id="26" creationId="{6D5E9AEE-04E1-4DF6-A994-C0F0DA4FC292}"/>
          </ac:picMkLst>
        </pc:picChg>
        <pc:cxnChg chg="del">
          <ac:chgData name="Surabhi R" userId="9e240a9ccb6a7b97" providerId="LiveId" clId="{57AECAD3-9072-4BC6-B317-28145B716AEF}" dt="2026-02-12T12:47:28.212" v="2" actId="478"/>
          <ac:cxnSpMkLst>
            <pc:docMk/>
            <pc:sldMk cId="2772501912" sldId="279"/>
            <ac:cxnSpMk id="12" creationId="{BF903721-9ADC-24F1-66A1-472D5B951993}"/>
          </ac:cxnSpMkLst>
        </pc:cxnChg>
        <pc:cxnChg chg="del mod">
          <ac:chgData name="Surabhi R" userId="9e240a9ccb6a7b97" providerId="LiveId" clId="{57AECAD3-9072-4BC6-B317-28145B716AEF}" dt="2026-02-12T12:47:25.308" v="1" actId="478"/>
          <ac:cxnSpMkLst>
            <pc:docMk/>
            <pc:sldMk cId="2772501912" sldId="279"/>
            <ac:cxnSpMk id="18" creationId="{19011D3E-C20B-BDD6-6526-452FD86D79EB}"/>
          </ac:cxnSpMkLst>
        </pc:cxnChg>
        <pc:cxnChg chg="del">
          <ac:chgData name="Surabhi R" userId="9e240a9ccb6a7b97" providerId="LiveId" clId="{57AECAD3-9072-4BC6-B317-28145B716AEF}" dt="2026-02-12T12:47:25.308" v="1" actId="478"/>
          <ac:cxnSpMkLst>
            <pc:docMk/>
            <pc:sldMk cId="2772501912" sldId="279"/>
            <ac:cxnSpMk id="19" creationId="{7B518B16-1165-3D51-0DA6-0E1D35BD23E5}"/>
          </ac:cxnSpMkLst>
        </pc:cxnChg>
        <pc:cxnChg chg="del">
          <ac:chgData name="Surabhi R" userId="9e240a9ccb6a7b97" providerId="LiveId" clId="{57AECAD3-9072-4BC6-B317-28145B716AEF}" dt="2026-02-12T12:47:25.308" v="1" actId="478"/>
          <ac:cxnSpMkLst>
            <pc:docMk/>
            <pc:sldMk cId="2772501912" sldId="279"/>
            <ac:cxnSpMk id="20" creationId="{1FA70487-24B7-50D9-9989-1907B0D1112E}"/>
          </ac:cxnSpMkLst>
        </pc:cxnChg>
      </pc:sldChg>
      <pc:sldChg chg="add">
        <pc:chgData name="Surabhi R" userId="9e240a9ccb6a7b97" providerId="LiveId" clId="{57AECAD3-9072-4BC6-B317-28145B716AEF}" dt="2026-02-12T12:47:13.622" v="0" actId="2890"/>
        <pc:sldMkLst>
          <pc:docMk/>
          <pc:sldMk cId="266556641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D56D297-AAEA-3A7B-8DD8-63F90FEA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F2C60221-833B-03A6-9A85-155C1C1A8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91CD7D18-30BF-66B9-16FE-3E743CE87C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67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2AF053C-04CE-2400-F8D9-10A7E8BD1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7D09A45-C7D7-0C69-EDE6-07DAF55A8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BF51801-4391-5AD3-E592-07115A457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09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151880CA-7D91-EB2D-F062-3417EA50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F844D651-0E22-11B7-3E49-93D0C466D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B572D276-D162-44D3-1311-94BF994A7F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91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F43CDD6-4336-1DF1-F99F-2B07D4C0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BDEE244C-5170-C17A-F5CF-6B51761A2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4FAD918F-EAB3-8C07-48A6-0667672175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75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858C15A-21E5-D0B4-5C72-89C04CF61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0249CF2E-B3CE-50FC-0E58-1811FDF49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6B717691-3C24-0380-C63D-D036EE324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35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929A6DC-B367-28E0-7428-54B20F039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D26A00-5187-365A-A052-1494FDEB8D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734AEEA7-AB52-2AAE-822D-5AA44837B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65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2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47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099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6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16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62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725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22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85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28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62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68DB97-BE7C-D925-30FD-9C50B3816B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77440" y="428"/>
            <a:ext cx="12346881" cy="694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7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AC8B568-3D3C-3E86-5500-B520D98306F0}"/>
              </a:ext>
            </a:extLst>
          </p:cNvPr>
          <p:cNvGrpSpPr/>
          <p:nvPr userDrawn="1"/>
        </p:nvGrpSpPr>
        <p:grpSpPr>
          <a:xfrm>
            <a:off x="0" y="6651168"/>
            <a:ext cx="12670971" cy="435429"/>
            <a:chOff x="0" y="6651168"/>
            <a:chExt cx="12670971" cy="435429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D5555CE-25B3-CABF-D580-C0F88491BEFE}"/>
                </a:ext>
              </a:extLst>
            </p:cNvPr>
            <p:cNvSpPr/>
            <p:nvPr userDrawn="1"/>
          </p:nvSpPr>
          <p:spPr>
            <a:xfrm flipH="1" flipV="1">
              <a:off x="5519057" y="6651712"/>
              <a:ext cx="7151914" cy="434885"/>
            </a:xfrm>
            <a:custGeom>
              <a:avLst/>
              <a:gdLst/>
              <a:ahLst/>
              <a:cxnLst/>
              <a:rect l="l" t="t" r="r" b="b"/>
              <a:pathLst>
                <a:path w="7315200" h="1024128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2284" t="-135494" r="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572DB9-8AEB-605A-8F56-BC9A0CE87D27}"/>
                </a:ext>
              </a:extLst>
            </p:cNvPr>
            <p:cNvSpPr/>
            <p:nvPr userDrawn="1"/>
          </p:nvSpPr>
          <p:spPr>
            <a:xfrm>
              <a:off x="0" y="6651168"/>
              <a:ext cx="5627915" cy="402771"/>
            </a:xfrm>
            <a:prstGeom prst="rect">
              <a:avLst/>
            </a:prstGeom>
            <a:solidFill>
              <a:srgbClr val="5B00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17CC75-0266-7826-42A2-A3B90927FA5D}"/>
              </a:ext>
            </a:extLst>
          </p:cNvPr>
          <p:cNvGrpSpPr/>
          <p:nvPr userDrawn="1"/>
        </p:nvGrpSpPr>
        <p:grpSpPr>
          <a:xfrm>
            <a:off x="-622201" y="-10886"/>
            <a:ext cx="12901287" cy="404184"/>
            <a:chOff x="-622201" y="-10886"/>
            <a:chExt cx="12901287" cy="404184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0F4394B1-42DA-2076-40EA-F5DB6481935B}"/>
                </a:ext>
              </a:extLst>
            </p:cNvPr>
            <p:cNvSpPr/>
            <p:nvPr userDrawn="1"/>
          </p:nvSpPr>
          <p:spPr>
            <a:xfrm>
              <a:off x="-622201" y="-1"/>
              <a:ext cx="7315200" cy="393299"/>
            </a:xfrm>
            <a:custGeom>
              <a:avLst/>
              <a:gdLst/>
              <a:ahLst/>
              <a:cxnLst/>
              <a:rect l="l" t="t" r="r" b="b"/>
              <a:pathLst>
                <a:path w="7315200" h="1024128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1603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5157E1-0A45-B6AC-0EBB-7A01A63B633F}"/>
                </a:ext>
              </a:extLst>
            </p:cNvPr>
            <p:cNvSpPr/>
            <p:nvPr userDrawn="1"/>
          </p:nvSpPr>
          <p:spPr>
            <a:xfrm>
              <a:off x="6651171" y="-10886"/>
              <a:ext cx="5627915" cy="402771"/>
            </a:xfrm>
            <a:prstGeom prst="rect">
              <a:avLst/>
            </a:prstGeom>
            <a:solidFill>
              <a:srgbClr val="5B00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698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1" r:id="rId2"/>
    <p:sldLayoutId id="214748368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athim5309-droid/sybil_backen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23A3F-BF7F-A63E-DFF9-0FA766AE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9C9EC1E8-50F0-594B-D72F-7FE53C0D5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157C48A1-958B-BDC8-8917-A1E7E9F32B25}"/>
              </a:ext>
            </a:extLst>
          </p:cNvPr>
          <p:cNvSpPr/>
          <p:nvPr/>
        </p:nvSpPr>
        <p:spPr>
          <a:xfrm>
            <a:off x="2705101" y="38101"/>
            <a:ext cx="6781799" cy="6781799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729495-97AF-FD52-3AB0-5D2450DBA74B}"/>
              </a:ext>
            </a:extLst>
          </p:cNvPr>
          <p:cNvSpPr txBox="1">
            <a:spLocks/>
          </p:cNvSpPr>
          <p:nvPr/>
        </p:nvSpPr>
        <p:spPr>
          <a:xfrm>
            <a:off x="2362200" y="1905341"/>
            <a:ext cx="7467600" cy="243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6600" b="1">
                <a:solidFill>
                  <a:schemeClr val="bg1"/>
                </a:solidFill>
                <a:latin typeface="Vodafone Rg" panose="020B0606080202020204" pitchFamily="34" charset="0"/>
                <a:cs typeface="Calibri" panose="020F0502020204030204" pitchFamily="34" charset="0"/>
              </a:rPr>
              <a:t>VOIS Innovation </a:t>
            </a:r>
          </a:p>
          <a:p>
            <a:pPr algn="ctr"/>
            <a:r>
              <a:rPr lang="en-US" sz="6600" b="1">
                <a:solidFill>
                  <a:schemeClr val="bg1"/>
                </a:solidFill>
                <a:latin typeface="Vodafone Rg" panose="020B0606080202020204" pitchFamily="34" charset="0"/>
                <a:cs typeface="Calibri" panose="020F0502020204030204" pitchFamily="34" charset="0"/>
              </a:rPr>
              <a:t>Marathon 2.0 </a:t>
            </a:r>
            <a:endParaRPr lang="en-IN">
              <a:solidFill>
                <a:schemeClr val="bg1"/>
              </a:solidFill>
              <a:latin typeface="Vodafone Rg" panose="020B060608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3901539B-3E4F-88C2-6ABE-7F68AE084607}"/>
              </a:ext>
            </a:extLst>
          </p:cNvPr>
          <p:cNvSpPr/>
          <p:nvPr/>
        </p:nvSpPr>
        <p:spPr>
          <a:xfrm>
            <a:off x="292748" y="197497"/>
            <a:ext cx="1753766" cy="574358"/>
          </a:xfrm>
          <a:custGeom>
            <a:avLst/>
            <a:gdLst/>
            <a:ahLst/>
            <a:cxnLst/>
            <a:rect l="l" t="t" r="r" b="b"/>
            <a:pathLst>
              <a:path w="2720172" h="890856">
                <a:moveTo>
                  <a:pt x="0" y="0"/>
                </a:moveTo>
                <a:lnTo>
                  <a:pt x="2720172" y="0"/>
                </a:lnTo>
                <a:lnTo>
                  <a:pt x="2720172" y="890856"/>
                </a:lnTo>
                <a:lnTo>
                  <a:pt x="0" y="8908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29E9B9AF-6FE0-E406-C2CD-90613301085C}"/>
              </a:ext>
            </a:extLst>
          </p:cNvPr>
          <p:cNvSpPr/>
          <p:nvPr/>
        </p:nvSpPr>
        <p:spPr>
          <a:xfrm flipH="1">
            <a:off x="10122548" y="6032241"/>
            <a:ext cx="1753766" cy="574358"/>
          </a:xfrm>
          <a:custGeom>
            <a:avLst/>
            <a:gdLst/>
            <a:ahLst/>
            <a:cxnLst/>
            <a:rect l="l" t="t" r="r" b="b"/>
            <a:pathLst>
              <a:path w="2720172" h="890856">
                <a:moveTo>
                  <a:pt x="0" y="0"/>
                </a:moveTo>
                <a:lnTo>
                  <a:pt x="2720172" y="0"/>
                </a:lnTo>
                <a:lnTo>
                  <a:pt x="2720172" y="890856"/>
                </a:lnTo>
                <a:lnTo>
                  <a:pt x="0" y="8908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1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21C18-6BF5-B97D-EE64-7FCF0E49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C642-43AC-4A20-252B-6E329095AC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4760" y="952165"/>
            <a:ext cx="6978624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TITLE: </a:t>
            </a:r>
            <a:r>
              <a:rPr lang="en-US" sz="3000">
                <a:latin typeface="Arial" panose="020B0604020202020204" pitchFamily="34" charset="0"/>
                <a:cs typeface="Arial" panose="020B0604020202020204" pitchFamily="34" charset="0"/>
              </a:rPr>
              <a:t>Real-Time Detection of Sybil &amp; Sensor Spoofing Attacks in Connected Autonomous Vehicles</a:t>
            </a:r>
            <a:endParaRPr lang="en-US" sz="3000" b="1">
              <a:solidFill>
                <a:srgbClr val="A2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CCB1A2-324D-F7D1-2DFF-C45E68B6E542}"/>
              </a:ext>
            </a:extLst>
          </p:cNvPr>
          <p:cNvGrpSpPr/>
          <p:nvPr/>
        </p:nvGrpSpPr>
        <p:grpSpPr>
          <a:xfrm>
            <a:off x="1675246" y="3145211"/>
            <a:ext cx="3477339" cy="417945"/>
            <a:chOff x="1273629" y="1436913"/>
            <a:chExt cx="3995057" cy="54428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C5427B-5584-42AA-BCBF-190F3341B904}"/>
                </a:ext>
              </a:extLst>
            </p:cNvPr>
            <p:cNvSpPr/>
            <p:nvPr/>
          </p:nvSpPr>
          <p:spPr>
            <a:xfrm>
              <a:off x="1273629" y="1436913"/>
              <a:ext cx="3995057" cy="544287"/>
            </a:xfrm>
            <a:prstGeom prst="roundRect">
              <a:avLst/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26BBA8-58B8-3AFD-F121-AED51A095207}"/>
                </a:ext>
              </a:extLst>
            </p:cNvPr>
            <p:cNvSpPr txBox="1"/>
            <p:nvPr/>
          </p:nvSpPr>
          <p:spPr>
            <a:xfrm>
              <a:off x="1790700" y="1539779"/>
              <a:ext cx="29609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Team No.47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B53CC7B-51F3-AF5B-5DAC-EE3E535ABF34}"/>
              </a:ext>
            </a:extLst>
          </p:cNvPr>
          <p:cNvGrpSpPr/>
          <p:nvPr/>
        </p:nvGrpSpPr>
        <p:grpSpPr>
          <a:xfrm>
            <a:off x="940501" y="5229357"/>
            <a:ext cx="4941757" cy="794728"/>
            <a:chOff x="1067333" y="1460011"/>
            <a:chExt cx="3601988" cy="89523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2B059A2-5AB7-4E51-27BD-E7AB5C0CA496}"/>
                </a:ext>
              </a:extLst>
            </p:cNvPr>
            <p:cNvSpPr/>
            <p:nvPr/>
          </p:nvSpPr>
          <p:spPr>
            <a:xfrm>
              <a:off x="1067333" y="1460011"/>
              <a:ext cx="3601988" cy="895232"/>
            </a:xfrm>
            <a:prstGeom prst="roundRect">
              <a:avLst/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1524BB-4EBD-652C-8DAB-09CCCEED5D51}"/>
                </a:ext>
              </a:extLst>
            </p:cNvPr>
            <p:cNvSpPr txBox="1"/>
            <p:nvPr/>
          </p:nvSpPr>
          <p:spPr>
            <a:xfrm>
              <a:off x="1129334" y="1659279"/>
              <a:ext cx="3477985" cy="3120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b="1">
                  <a:solidFill>
                    <a:schemeClr val="dk1"/>
                  </a:solidFill>
                  <a:latin typeface="Arial" panose="020B0604020202020204" pitchFamily="34" charset="0"/>
                  <a:ea typeface="Times New Roman"/>
                  <a:cs typeface="Arial" panose="020B0604020202020204" pitchFamily="34" charset="0"/>
                  <a:sym typeface="Times New Roman"/>
                </a:rPr>
                <a:t>JSS Academy  Of Technical Education Bangalore (JSSATEB)</a:t>
              </a:r>
              <a:endParaRPr 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434349-E673-42C2-FF03-FB2D2796AC1A}"/>
              </a:ext>
            </a:extLst>
          </p:cNvPr>
          <p:cNvGrpSpPr/>
          <p:nvPr/>
        </p:nvGrpSpPr>
        <p:grpSpPr>
          <a:xfrm>
            <a:off x="8185526" y="3145211"/>
            <a:ext cx="1774372" cy="570162"/>
            <a:chOff x="7500027" y="2477666"/>
            <a:chExt cx="3112851" cy="316637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2D94EAD-4CE1-0423-E85F-A37A9C832D6F}"/>
                </a:ext>
              </a:extLst>
            </p:cNvPr>
            <p:cNvSpPr/>
            <p:nvPr/>
          </p:nvSpPr>
          <p:spPr>
            <a:xfrm>
              <a:off x="7500027" y="2477666"/>
              <a:ext cx="3112851" cy="316637"/>
            </a:xfrm>
            <a:prstGeom prst="roundRect">
              <a:avLst>
                <a:gd name="adj" fmla="val 11836"/>
              </a:avLst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780AD8-94E6-C0DF-B4F9-D2AD72EC8C4F}"/>
                </a:ext>
              </a:extLst>
            </p:cNvPr>
            <p:cNvSpPr txBox="1"/>
            <p:nvPr/>
          </p:nvSpPr>
          <p:spPr>
            <a:xfrm>
              <a:off x="7684301" y="2512785"/>
              <a:ext cx="2744301" cy="25638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SWATHI.M.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ECE</a:t>
              </a:r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61E9DB2-5CD7-D546-D014-634E42A4AE1E}"/>
              </a:ext>
            </a:extLst>
          </p:cNvPr>
          <p:cNvSpPr/>
          <p:nvPr/>
        </p:nvSpPr>
        <p:spPr>
          <a:xfrm>
            <a:off x="7185889" y="3906981"/>
            <a:ext cx="1666627" cy="1599801"/>
          </a:xfrm>
          <a:prstGeom prst="roundRect">
            <a:avLst>
              <a:gd name="adj" fmla="val 8078"/>
            </a:avLst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Insert your professional photo</a:t>
            </a:r>
            <a:endParaRPr lang="en-IN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EE73ADA-1A54-DFB3-02B3-2903F3C229A1}"/>
              </a:ext>
            </a:extLst>
          </p:cNvPr>
          <p:cNvGrpSpPr/>
          <p:nvPr/>
        </p:nvGrpSpPr>
        <p:grpSpPr>
          <a:xfrm>
            <a:off x="7248254" y="5606227"/>
            <a:ext cx="1541896" cy="570162"/>
            <a:chOff x="7295744" y="4938409"/>
            <a:chExt cx="1678288" cy="486383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9AC5669-EFCD-F6C2-F878-2812D968D7C1}"/>
                </a:ext>
              </a:extLst>
            </p:cNvPr>
            <p:cNvSpPr/>
            <p:nvPr/>
          </p:nvSpPr>
          <p:spPr>
            <a:xfrm>
              <a:off x="7295744" y="4938409"/>
              <a:ext cx="1605063" cy="486383"/>
            </a:xfrm>
            <a:prstGeom prst="roundRect">
              <a:avLst>
                <a:gd name="adj" fmla="val 11836"/>
              </a:avLst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3CBB397-5042-E6EC-C8B7-72C2D67E6F17}"/>
                </a:ext>
              </a:extLst>
            </p:cNvPr>
            <p:cNvSpPr txBox="1"/>
            <p:nvPr/>
          </p:nvSpPr>
          <p:spPr>
            <a:xfrm>
              <a:off x="7368969" y="5012323"/>
              <a:ext cx="1605063" cy="282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SANDHYA.J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ECE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9A0ED5C-4294-9DED-35D1-ADB332624E97}"/>
              </a:ext>
            </a:extLst>
          </p:cNvPr>
          <p:cNvGrpSpPr/>
          <p:nvPr/>
        </p:nvGrpSpPr>
        <p:grpSpPr>
          <a:xfrm>
            <a:off x="9366979" y="5609500"/>
            <a:ext cx="1588956" cy="570162"/>
            <a:chOff x="7295744" y="4938409"/>
            <a:chExt cx="1647403" cy="486383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8ACFAE00-7A83-9B8F-12D5-4B2385335898}"/>
                </a:ext>
              </a:extLst>
            </p:cNvPr>
            <p:cNvSpPr/>
            <p:nvPr/>
          </p:nvSpPr>
          <p:spPr>
            <a:xfrm>
              <a:off x="7295744" y="4938409"/>
              <a:ext cx="1605063" cy="486383"/>
            </a:xfrm>
            <a:prstGeom prst="roundRect">
              <a:avLst>
                <a:gd name="adj" fmla="val 11836"/>
              </a:avLst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7DF3CD4-B7BA-8258-4634-2E9E4FBA076D}"/>
                </a:ext>
              </a:extLst>
            </p:cNvPr>
            <p:cNvSpPr txBox="1"/>
            <p:nvPr/>
          </p:nvSpPr>
          <p:spPr>
            <a:xfrm>
              <a:off x="7295744" y="5012323"/>
              <a:ext cx="1647403" cy="282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SURABHI.R.</a:t>
              </a:r>
            </a:p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ECE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A01BF34-4457-6D8B-FDFD-1A475E7F5D0D}"/>
              </a:ext>
            </a:extLst>
          </p:cNvPr>
          <p:cNvSpPr txBox="1"/>
          <p:nvPr/>
        </p:nvSpPr>
        <p:spPr>
          <a:xfrm>
            <a:off x="9487456" y="4140017"/>
            <a:ext cx="1293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172" name="Picture 4" descr="COMEDK | Karnataka Professional Colleges Foundation | JSS Academy of ...">
            <a:extLst>
              <a:ext uri="{FF2B5EF4-FFF2-40B4-BE49-F238E27FC236}">
                <a16:creationId xmlns:a16="http://schemas.microsoft.com/office/drawing/2014/main" id="{0C79DE40-F8DF-4C9C-B61F-EC56AD759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155" y="3574947"/>
            <a:ext cx="1397357" cy="155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Google Shape;412;p19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7B8099D8-C17A-44CD-BC04-AEDFE43FDC61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t="20499" b="20499"/>
          <a:stretch/>
        </p:blipFill>
        <p:spPr>
          <a:xfrm>
            <a:off x="7185890" y="3906982"/>
            <a:ext cx="1666627" cy="15998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32" name="Google Shape;415;p19" descr="A person with black hair and a striped shirt&#10;&#10;AI-generated content may be incorrect.">
            <a:extLst>
              <a:ext uri="{FF2B5EF4-FFF2-40B4-BE49-F238E27FC236}">
                <a16:creationId xmlns:a16="http://schemas.microsoft.com/office/drawing/2014/main" id="{E59B2451-058D-4339-AC36-129DEE6A2ED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 t="16946" b="16946"/>
          <a:stretch/>
        </p:blipFill>
        <p:spPr>
          <a:xfrm>
            <a:off x="9281713" y="3862536"/>
            <a:ext cx="1759488" cy="159980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35555C-1E76-448B-BE3E-02EF29342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475" y="943695"/>
            <a:ext cx="1514519" cy="19423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0913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609697-D49F-A4FB-049E-97EE321D4CA6}"/>
              </a:ext>
            </a:extLst>
          </p:cNvPr>
          <p:cNvSpPr txBox="1">
            <a:spLocks/>
          </p:cNvSpPr>
          <p:nvPr/>
        </p:nvSpPr>
        <p:spPr>
          <a:xfrm>
            <a:off x="557294" y="794353"/>
            <a:ext cx="463985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2E011-DEC7-4270-BD4C-50C8BE44AF53}"/>
              </a:ext>
            </a:extLst>
          </p:cNvPr>
          <p:cNvSpPr txBox="1"/>
          <p:nvPr/>
        </p:nvSpPr>
        <p:spPr>
          <a:xfrm>
            <a:off x="557294" y="1743978"/>
            <a:ext cx="8171070" cy="3512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Connected and Autonomous Vehicles </a:t>
            </a:r>
            <a:r>
              <a:rPr lang="en-US" sz="1500" dirty="0"/>
              <a:t>(CAVs) depend on Vehicle to Vehicle(V2V) and</a:t>
            </a:r>
          </a:p>
          <a:p>
            <a:pPr marL="268288" indent="-268288" algn="just">
              <a:lnSpc>
                <a:spcPct val="150000"/>
              </a:lnSpc>
            </a:pPr>
            <a:r>
              <a:rPr lang="en-US" sz="1500" dirty="0"/>
              <a:t>    Vehicle to Infrastructure (V2I) communication for safe, efficient transportation.</a:t>
            </a:r>
          </a:p>
          <a:p>
            <a:pPr marL="268288" indent="-268288" algn="just">
              <a:lnSpc>
                <a:spcPct val="150000"/>
              </a:lnSpc>
            </a:pPr>
            <a:endParaRPr lang="en-US" sz="1500" dirty="0"/>
          </a:p>
          <a:p>
            <a:pPr marL="268288" indent="-26828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These networks are vulnerable to </a:t>
            </a:r>
            <a:r>
              <a:rPr lang="en-US" sz="1500" b="1" dirty="0"/>
              <a:t>Sybil attacks , Sensor spoofing ,GPS spoofing </a:t>
            </a:r>
            <a:r>
              <a:rPr lang="en-US" sz="1500" dirty="0"/>
              <a:t>and many other attacks causing misinterpretation in V2V and V2I communication , unsafe routing and also accidents due to unsafe decision taken by CAVs during attack.</a:t>
            </a:r>
          </a:p>
          <a:p>
            <a:pPr algn="just">
              <a:lnSpc>
                <a:spcPct val="150000"/>
              </a:lnSpc>
            </a:pPr>
            <a:endParaRPr lang="en-US" sz="1500" dirty="0"/>
          </a:p>
          <a:p>
            <a:pPr marL="268288" indent="-26828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Current security solutions lack real-time detection and monitoring, limiting the ability to respond promptly and thus there is a need for an </a:t>
            </a:r>
            <a:r>
              <a:rPr lang="en-US" sz="1500" b="1" dirty="0"/>
              <a:t>intelligent </a:t>
            </a:r>
            <a:r>
              <a:rPr lang="en-US" sz="1500" dirty="0"/>
              <a:t>, </a:t>
            </a:r>
            <a:r>
              <a:rPr lang="en-US" sz="1500" b="1" dirty="0"/>
              <a:t>real-time detection system </a:t>
            </a:r>
            <a:r>
              <a:rPr lang="en-US" sz="1500" dirty="0"/>
              <a:t>to handle this  ensuring safe and secure transportation.</a:t>
            </a:r>
          </a:p>
        </p:txBody>
      </p:sp>
      <p:pic>
        <p:nvPicPr>
          <p:cNvPr id="2" name="Picture 1" descr="A person standing next to a string of light bulb and triangles&#10;&#10;AI-generated content may be incorrect.">
            <a:extLst>
              <a:ext uri="{FF2B5EF4-FFF2-40B4-BE49-F238E27FC236}">
                <a16:creationId xmlns:a16="http://schemas.microsoft.com/office/drawing/2014/main" id="{9635DAD0-76B3-87F7-45FD-8ADC0C386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760" y="4396509"/>
            <a:ext cx="2391936" cy="237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Courier New" panose="02070309020205020404" pitchFamily="49" charset="0"/>
              <a:buChar char="o"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7853894-3A56-5D0E-024A-F2247ECFFC74}"/>
              </a:ext>
            </a:extLst>
          </p:cNvPr>
          <p:cNvSpPr txBox="1">
            <a:spLocks/>
          </p:cNvSpPr>
          <p:nvPr/>
        </p:nvSpPr>
        <p:spPr>
          <a:xfrm>
            <a:off x="565465" y="777009"/>
            <a:ext cx="4454404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OF PROJECT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D48289-8D5A-4CF0-A73A-1D09210F5856}"/>
              </a:ext>
            </a:extLst>
          </p:cNvPr>
          <p:cNvSpPr txBox="1"/>
          <p:nvPr/>
        </p:nvSpPr>
        <p:spPr>
          <a:xfrm flipH="1">
            <a:off x="446316" y="2035277"/>
            <a:ext cx="2784566" cy="320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74937D-B0A7-4E94-A7AA-9F0C6BC5C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465" y="1585380"/>
            <a:ext cx="7092820" cy="4596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1500" b="1">
                <a:latin typeface="Arial" panose="020B0604020202020204" pitchFamily="34" charset="0"/>
                <a:cs typeface="Arial" panose="020B0604020202020204" pitchFamily="34" charset="0"/>
              </a:rPr>
              <a:t>Why Needed</a:t>
            </a:r>
            <a:r>
              <a:rPr lang="en-IN" sz="15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IN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14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  Sybil attacks </a:t>
            </a:r>
            <a:r>
              <a:rPr lang="en-US" sz="16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malicious vehicles create multiple fake identities, causing false traffic information, unsafe routing, and potential accidents</a:t>
            </a: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 thus undermining trust in V2V/V2I communication</a:t>
            </a:r>
          </a:p>
          <a:p>
            <a:pPr marL="342900" lvl="0" indent="14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  Sensor spoofing compromises perception and decision-making in autonomous driving.</a:t>
            </a:r>
          </a:p>
          <a:p>
            <a:pPr marL="342900" lvl="0" indent="14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  Existing methods are computationally heavy, partial, and not suitable for real-time deployment.</a:t>
            </a:r>
          </a:p>
          <a:p>
            <a:pPr marL="342900" lvl="0" indent="1428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500" b="1"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500">
                <a:latin typeface="Arial" panose="020B0604020202020204" pitchFamily="34" charset="0"/>
                <a:cs typeface="Arial" panose="020B0604020202020204" pitchFamily="34" charset="0"/>
              </a:rPr>
              <a:t> Develop a lightweight ML-based framework to detect both attacks simultaneously.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person holding a magnifying glass&#10;&#10;AI-generated content may be incorrect.">
            <a:extLst>
              <a:ext uri="{FF2B5EF4-FFF2-40B4-BE49-F238E27FC236}">
                <a16:creationId xmlns:a16="http://schemas.microsoft.com/office/drawing/2014/main" id="{55518804-5CBA-3208-A963-F455B8B86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7000"/>
                    </a14:imgEffect>
                    <a14:imgEffect>
                      <a14:brightnessContrast bright="7000" contrast="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85378" y="3737931"/>
            <a:ext cx="2721091" cy="29431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54DAA0B5-D49D-D971-A0D4-0A4C28AE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883974E-C694-F06D-D690-8C30026F7356}"/>
              </a:ext>
            </a:extLst>
          </p:cNvPr>
          <p:cNvSpPr txBox="1">
            <a:spLocks/>
          </p:cNvSpPr>
          <p:nvPr/>
        </p:nvSpPr>
        <p:spPr>
          <a:xfrm>
            <a:off x="539622" y="694355"/>
            <a:ext cx="470418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A1EACD1-3931-452B-8537-D11C836CB75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9621" y="1709298"/>
            <a:ext cx="7139472" cy="343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  <a:endParaRPr lang="en-US" altLang="en-US" sz="15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ML-driven real-time detection system for Sybil &amp; Sensor Spoofing 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7188" marR="0" lvl="0" indent="-3571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SUMO simulator generates traffic traces.</a:t>
            </a: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Python preprocessing extracts mobility + sensor features.</a:t>
            </a: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Random Forest model classifies malicious identities and spoofed sensor data.</a:t>
            </a: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828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Real-time pipeline with alerting + dashboard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 descr="A person and person sitting on a block looking at a screen&#10;&#10;AI-generated content may be incorrect.">
            <a:extLst>
              <a:ext uri="{FF2B5EF4-FFF2-40B4-BE49-F238E27FC236}">
                <a16:creationId xmlns:a16="http://schemas.microsoft.com/office/drawing/2014/main" id="{B1E36D30-A866-8C79-E503-B09C25E98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544" y="3349690"/>
            <a:ext cx="3438874" cy="314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8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8CDC953-2B84-68FE-7DE5-8D086B35CDF6}"/>
              </a:ext>
            </a:extLst>
          </p:cNvPr>
          <p:cNvSpPr txBox="1">
            <a:spLocks/>
          </p:cNvSpPr>
          <p:nvPr/>
        </p:nvSpPr>
        <p:spPr>
          <a:xfrm>
            <a:off x="435429" y="675694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OVERVIEW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4BB2403-1105-4B1A-BD4B-6D83FCA6A6B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5429" y="1601664"/>
            <a:ext cx="7141028" cy="3165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Pipeline: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7675" marR="0" lvl="0" indent="-268288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generation (mobility + sensor traces)</a:t>
            </a:r>
            <a:endParaRPr lang="en-US" altLang="en-US" sz="15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7675" marR="0" lvl="0" indent="-268288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 extraction  (identity anomalies + sensor inconsistencies)</a:t>
            </a:r>
          </a:p>
          <a:p>
            <a:pPr marL="447675" marR="0" lvl="0" indent="-268288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ML classification (Random Forest)</a:t>
            </a:r>
          </a:p>
          <a:p>
            <a:pPr marL="447675" marR="0" lvl="0" indent="-268288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Real-time alerts + dashboard visualization</a:t>
            </a:r>
            <a:endParaRPr lang="en-US" altLang="en-US" sz="15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9387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Outcome:</a:t>
            </a:r>
            <a:endParaRPr lang="en-US" altLang="en-US" sz="15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Low-latency detection of both Sybil and sensor spoofing attacks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" name="Picture 1" descr="A group of people holding puzzle pieces&#10;&#10;AI-generated content may be incorrect.">
            <a:extLst>
              <a:ext uri="{FF2B5EF4-FFF2-40B4-BE49-F238E27FC236}">
                <a16:creationId xmlns:a16="http://schemas.microsoft.com/office/drawing/2014/main" id="{302DDF7A-7BBF-1B35-91EE-7C95E1FDE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825" y="3342670"/>
            <a:ext cx="4387776" cy="33191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7FCB28-836D-8BB8-8DF2-FE477873FAEB}"/>
              </a:ext>
            </a:extLst>
          </p:cNvPr>
          <p:cNvSpPr txBox="1">
            <a:spLocks/>
          </p:cNvSpPr>
          <p:nvPr/>
        </p:nvSpPr>
        <p:spPr>
          <a:xfrm>
            <a:off x="538916" y="608127"/>
            <a:ext cx="393977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USED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EB5405-9A31-1486-91F5-C7BBEA611907}"/>
              </a:ext>
            </a:extLst>
          </p:cNvPr>
          <p:cNvGrpSpPr/>
          <p:nvPr/>
        </p:nvGrpSpPr>
        <p:grpSpPr>
          <a:xfrm>
            <a:off x="321767" y="1350281"/>
            <a:ext cx="6335489" cy="3832778"/>
            <a:chOff x="734785" y="1349834"/>
            <a:chExt cx="6335489" cy="39184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84E941-566A-01D9-694F-1E6A94DCBE3A}"/>
                </a:ext>
              </a:extLst>
            </p:cNvPr>
            <p:cNvSpPr txBox="1"/>
            <p:nvPr/>
          </p:nvSpPr>
          <p:spPr>
            <a:xfrm>
              <a:off x="1577975" y="1687286"/>
              <a:ext cx="445225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/>
                <a:t> Simulator</a:t>
              </a:r>
              <a:r>
                <a:rPr lang="en-IN" sz="1500" b="1"/>
                <a:t>:</a:t>
              </a:r>
              <a:r>
                <a:rPr lang="en-IN" sz="1500"/>
                <a:t> SUMO (mobility traces)</a:t>
              </a:r>
              <a:endParaRPr lang="en-US" sz="15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BED06D0-D576-04D7-8A6A-59FFC1A77774}"/>
                </a:ext>
              </a:extLst>
            </p:cNvPr>
            <p:cNvSpPr/>
            <p:nvPr/>
          </p:nvSpPr>
          <p:spPr>
            <a:xfrm rot="5400000">
              <a:off x="688294" y="1396325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306874-9D27-72C4-3E5C-C89E3D830C42}"/>
                </a:ext>
              </a:extLst>
            </p:cNvPr>
            <p:cNvSpPr txBox="1"/>
            <p:nvPr/>
          </p:nvSpPr>
          <p:spPr>
            <a:xfrm>
              <a:off x="1670959" y="2472302"/>
              <a:ext cx="539931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/>
                <a:t>ML Model</a:t>
              </a:r>
              <a:r>
                <a:rPr lang="en-IN" sz="1500" b="1"/>
                <a:t>:</a:t>
              </a:r>
              <a:r>
                <a:rPr lang="en-IN" sz="1500"/>
                <a:t> Random Forest</a:t>
              </a:r>
              <a:endParaRPr lang="en-US" sz="15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2FE0FB3-8D2C-2324-E161-4A103A0228AE}"/>
                </a:ext>
              </a:extLst>
            </p:cNvPr>
            <p:cNvSpPr/>
            <p:nvPr/>
          </p:nvSpPr>
          <p:spPr>
            <a:xfrm rot="5400000">
              <a:off x="688294" y="2207311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024B58D-1C2C-B49A-D9A6-5DE565BCFE94}"/>
                </a:ext>
              </a:extLst>
            </p:cNvPr>
            <p:cNvSpPr/>
            <p:nvPr/>
          </p:nvSpPr>
          <p:spPr>
            <a:xfrm rot="5400000">
              <a:off x="688294" y="3018298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B75F5EC-8B32-E4EC-478E-DB3BC6715FF7}"/>
                </a:ext>
              </a:extLst>
            </p:cNvPr>
            <p:cNvSpPr/>
            <p:nvPr/>
          </p:nvSpPr>
          <p:spPr>
            <a:xfrm rot="5400000">
              <a:off x="688294" y="3829283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106472-6F65-BD28-0CFC-F4EAB059773A}"/>
                </a:ext>
              </a:extLst>
            </p:cNvPr>
            <p:cNvSpPr txBox="1"/>
            <p:nvPr/>
          </p:nvSpPr>
          <p:spPr>
            <a:xfrm>
              <a:off x="1632855" y="3259723"/>
              <a:ext cx="4463145" cy="3231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500">
                  <a:latin typeface="Arial" panose="020B0604020202020204" pitchFamily="34" charset="0"/>
                  <a:cs typeface="Arial" panose="020B0604020202020204" pitchFamily="34" charset="0"/>
                </a:rPr>
                <a:t> Web Dashboard Technologies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B5334A-E333-7099-4930-287CC31F8DC3}"/>
                </a:ext>
              </a:extLst>
            </p:cNvPr>
            <p:cNvSpPr txBox="1"/>
            <p:nvPr/>
          </p:nvSpPr>
          <p:spPr>
            <a:xfrm>
              <a:off x="1632855" y="4043494"/>
              <a:ext cx="44631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B3262A-EBC7-70F4-E80B-7105E0186D12}"/>
                </a:ext>
              </a:extLst>
            </p:cNvPr>
            <p:cNvSpPr txBox="1"/>
            <p:nvPr/>
          </p:nvSpPr>
          <p:spPr>
            <a:xfrm>
              <a:off x="1077686" y="1687286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228E7F-45DD-6A92-9B7A-93012225AB45}"/>
                </a:ext>
              </a:extLst>
            </p:cNvPr>
            <p:cNvSpPr txBox="1"/>
            <p:nvPr/>
          </p:nvSpPr>
          <p:spPr>
            <a:xfrm>
              <a:off x="1077686" y="2492829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751CB5-990A-59AE-4BA7-0EAD540C8819}"/>
                </a:ext>
              </a:extLst>
            </p:cNvPr>
            <p:cNvSpPr txBox="1"/>
            <p:nvPr/>
          </p:nvSpPr>
          <p:spPr>
            <a:xfrm>
              <a:off x="1110343" y="3275111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30CF7E-892C-CA55-823A-B74F5B45E524}"/>
                </a:ext>
              </a:extLst>
            </p:cNvPr>
            <p:cNvSpPr txBox="1"/>
            <p:nvPr/>
          </p:nvSpPr>
          <p:spPr>
            <a:xfrm>
              <a:off x="1088572" y="4124197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E56E4BE-594A-6803-2C46-5A2012300497}"/>
                </a:ext>
              </a:extLst>
            </p:cNvPr>
            <p:cNvSpPr txBox="1"/>
            <p:nvPr/>
          </p:nvSpPr>
          <p:spPr>
            <a:xfrm>
              <a:off x="1099458" y="4929740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B36849-B9B8-428B-B415-2197F79FCC20}"/>
              </a:ext>
            </a:extLst>
          </p:cNvPr>
          <p:cNvSpPr txBox="1"/>
          <p:nvPr/>
        </p:nvSpPr>
        <p:spPr>
          <a:xfrm>
            <a:off x="1333502" y="4031663"/>
            <a:ext cx="27966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/>
              <a:t>Python</a:t>
            </a:r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D47BF910-E289-4C3B-9383-184CB62ADAFD}"/>
              </a:ext>
            </a:extLst>
          </p:cNvPr>
          <p:cNvSpPr/>
          <p:nvPr/>
        </p:nvSpPr>
        <p:spPr>
          <a:xfrm>
            <a:off x="310014" y="4664528"/>
            <a:ext cx="936171" cy="843190"/>
          </a:xfrm>
          <a:custGeom>
            <a:avLst/>
            <a:gdLst/>
            <a:ahLst/>
            <a:cxnLst/>
            <a:rect l="l" t="t" r="r" b="b"/>
            <a:pathLst>
              <a:path w="1527620" h="4114800">
                <a:moveTo>
                  <a:pt x="0" y="0"/>
                </a:moveTo>
                <a:lnTo>
                  <a:pt x="1527619" y="0"/>
                </a:lnTo>
                <a:lnTo>
                  <a:pt x="152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12328" r="-128568" b="-546691"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DA5D11-5972-434A-8E46-6023F2DB559A}"/>
              </a:ext>
            </a:extLst>
          </p:cNvPr>
          <p:cNvSpPr txBox="1"/>
          <p:nvPr/>
        </p:nvSpPr>
        <p:spPr>
          <a:xfrm>
            <a:off x="681277" y="4875282"/>
            <a:ext cx="537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 </a:t>
            </a:r>
            <a:r>
              <a:rPr lang="en-IN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EFFA22-682C-4572-B69B-F8928287F7EE}"/>
              </a:ext>
            </a:extLst>
          </p:cNvPr>
          <p:cNvSpPr txBox="1"/>
          <p:nvPr/>
        </p:nvSpPr>
        <p:spPr>
          <a:xfrm flipH="1">
            <a:off x="1273626" y="4851908"/>
            <a:ext cx="482237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/>
              <a:t>Fast API , Render (Backend), Vercel (Frontend)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21CC8C-AEAF-41C6-ADB6-5C0CBDC4A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0878" y="1716302"/>
            <a:ext cx="6120179" cy="357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D1BDE3-7D7C-42E9-F4EA-59D39CB39F60}"/>
              </a:ext>
            </a:extLst>
          </p:cNvPr>
          <p:cNvSpPr txBox="1">
            <a:spLocks/>
          </p:cNvSpPr>
          <p:nvPr/>
        </p:nvSpPr>
        <p:spPr>
          <a:xfrm>
            <a:off x="633588" y="877489"/>
            <a:ext cx="60378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FLOW DIAGRAM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997551-DA01-0138-25D7-706DFA1358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995198" y="6165834"/>
            <a:ext cx="2143125" cy="1930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C5583B3-E8B1-4748-412B-D4078AD77EA5}"/>
              </a:ext>
            </a:extLst>
          </p:cNvPr>
          <p:cNvSpPr/>
          <p:nvPr/>
        </p:nvSpPr>
        <p:spPr>
          <a:xfrm>
            <a:off x="3277347" y="2173018"/>
            <a:ext cx="2463945" cy="2406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02161-83D8-85A9-3DFA-61C9BBA96039}"/>
              </a:ext>
            </a:extLst>
          </p:cNvPr>
          <p:cNvSpPr/>
          <p:nvPr/>
        </p:nvSpPr>
        <p:spPr>
          <a:xfrm>
            <a:off x="6110601" y="2152138"/>
            <a:ext cx="2457658" cy="2416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24CB3C-9708-A3C8-A6B9-915777230319}"/>
              </a:ext>
            </a:extLst>
          </p:cNvPr>
          <p:cNvSpPr/>
          <p:nvPr/>
        </p:nvSpPr>
        <p:spPr>
          <a:xfrm>
            <a:off x="8965941" y="2173015"/>
            <a:ext cx="2457659" cy="24062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B59E5487-6E4D-B597-1BA3-770C3AEC4994}"/>
              </a:ext>
            </a:extLst>
          </p:cNvPr>
          <p:cNvSpPr txBox="1"/>
          <p:nvPr/>
        </p:nvSpPr>
        <p:spPr>
          <a:xfrm>
            <a:off x="598098" y="2181394"/>
            <a:ext cx="2268475" cy="584775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DATA GENERATION LAYER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7F7CC0BF-7808-CC3B-9C16-69231CF08C3D}"/>
              </a:ext>
            </a:extLst>
          </p:cNvPr>
          <p:cNvSpPr txBox="1"/>
          <p:nvPr/>
        </p:nvSpPr>
        <p:spPr>
          <a:xfrm>
            <a:off x="3283635" y="2192880"/>
            <a:ext cx="2457658" cy="58477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PYTHON PROCESSING PIPELINE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23">
            <a:extLst>
              <a:ext uri="{FF2B5EF4-FFF2-40B4-BE49-F238E27FC236}">
                <a16:creationId xmlns:a16="http://schemas.microsoft.com/office/drawing/2014/main" id="{CC26F80C-FC3B-4EF2-CD65-3675158F6C83}"/>
              </a:ext>
            </a:extLst>
          </p:cNvPr>
          <p:cNvSpPr txBox="1"/>
          <p:nvPr/>
        </p:nvSpPr>
        <p:spPr>
          <a:xfrm>
            <a:off x="784621" y="2990507"/>
            <a:ext cx="154423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Sumo Traffic Simulator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24">
            <a:extLst>
              <a:ext uri="{FF2B5EF4-FFF2-40B4-BE49-F238E27FC236}">
                <a16:creationId xmlns:a16="http://schemas.microsoft.com/office/drawing/2014/main" id="{07522641-83C2-0935-0D76-0B7977C4AE3A}"/>
              </a:ext>
            </a:extLst>
          </p:cNvPr>
          <p:cNvSpPr txBox="1"/>
          <p:nvPr/>
        </p:nvSpPr>
        <p:spPr>
          <a:xfrm>
            <a:off x="6109671" y="2147349"/>
            <a:ext cx="2441928" cy="58477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RANDOM FOREST CLASSIFIER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D3EB451B-F091-3BBE-CDD7-CE50A4A00FAB}"/>
              </a:ext>
            </a:extLst>
          </p:cNvPr>
          <p:cNvSpPr txBox="1"/>
          <p:nvPr/>
        </p:nvSpPr>
        <p:spPr>
          <a:xfrm>
            <a:off x="8978278" y="2178664"/>
            <a:ext cx="2441928" cy="58477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VISUALIZATION AND ALERTS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E498C7F7-C381-97C9-29D6-DE425627BD1E}"/>
              </a:ext>
            </a:extLst>
          </p:cNvPr>
          <p:cNvSpPr txBox="1"/>
          <p:nvPr/>
        </p:nvSpPr>
        <p:spPr>
          <a:xfrm>
            <a:off x="3515423" y="2990507"/>
            <a:ext cx="194258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Data Ingestion &amp; Cleaning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7">
            <a:extLst>
              <a:ext uri="{FF2B5EF4-FFF2-40B4-BE49-F238E27FC236}">
                <a16:creationId xmlns:a16="http://schemas.microsoft.com/office/drawing/2014/main" id="{1825FC33-5D67-49CD-A38B-845CA7F23999}"/>
              </a:ext>
            </a:extLst>
          </p:cNvPr>
          <p:cNvSpPr txBox="1"/>
          <p:nvPr/>
        </p:nvSpPr>
        <p:spPr>
          <a:xfrm>
            <a:off x="6325419" y="2990505"/>
            <a:ext cx="191849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Model Training &amp; Prediction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30">
            <a:extLst>
              <a:ext uri="{FF2B5EF4-FFF2-40B4-BE49-F238E27FC236}">
                <a16:creationId xmlns:a16="http://schemas.microsoft.com/office/drawing/2014/main" id="{CE7FCBE9-D40B-EE34-8FD9-B4BBE44A5594}"/>
              </a:ext>
            </a:extLst>
          </p:cNvPr>
          <p:cNvSpPr txBox="1"/>
          <p:nvPr/>
        </p:nvSpPr>
        <p:spPr>
          <a:xfrm>
            <a:off x="9181926" y="2990506"/>
            <a:ext cx="19393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Threat Watch Web Dashboard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021EAB84-1C46-F6DE-A022-1CBD3BBDC29A}"/>
              </a:ext>
            </a:extLst>
          </p:cNvPr>
          <p:cNvSpPr txBox="1"/>
          <p:nvPr/>
        </p:nvSpPr>
        <p:spPr>
          <a:xfrm>
            <a:off x="790882" y="3758769"/>
            <a:ext cx="154423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Mobility Trace Generation(csv)</a:t>
            </a:r>
            <a:endParaRPr lang="en-I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037068-B9AF-3F7E-B3BF-7AC19176F1AD}"/>
              </a:ext>
            </a:extLst>
          </p:cNvPr>
          <p:cNvSpPr/>
          <p:nvPr/>
        </p:nvSpPr>
        <p:spPr>
          <a:xfrm>
            <a:off x="600955" y="2179282"/>
            <a:ext cx="2259331" cy="2395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E462CD90-1BA0-89BE-B449-73FAE9CAAEE8}"/>
              </a:ext>
            </a:extLst>
          </p:cNvPr>
          <p:cNvSpPr txBox="1"/>
          <p:nvPr/>
        </p:nvSpPr>
        <p:spPr>
          <a:xfrm>
            <a:off x="3511248" y="3758771"/>
            <a:ext cx="187995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Feature Extraction (Pos, Vel, Acc )</a:t>
            </a:r>
            <a:endParaRPr lang="en-I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B48E0D16-4346-D65E-B6DE-0CCD8AE586AE}"/>
              </a:ext>
            </a:extLst>
          </p:cNvPr>
          <p:cNvSpPr txBox="1"/>
          <p:nvPr/>
        </p:nvSpPr>
        <p:spPr>
          <a:xfrm>
            <a:off x="6331684" y="3758769"/>
            <a:ext cx="19393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Benign vs. Legitimate Labeling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9">
            <a:extLst>
              <a:ext uri="{FF2B5EF4-FFF2-40B4-BE49-F238E27FC236}">
                <a16:creationId xmlns:a16="http://schemas.microsoft.com/office/drawing/2014/main" id="{B22BE7C9-B0E9-7696-A295-183152ECE7A3}"/>
              </a:ext>
            </a:extLst>
          </p:cNvPr>
          <p:cNvSpPr txBox="1"/>
          <p:nvPr/>
        </p:nvSpPr>
        <p:spPr>
          <a:xfrm>
            <a:off x="9177751" y="3758768"/>
            <a:ext cx="19393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 Real-time Security Notifications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0EF451BC-A7EC-D745-6687-E24042089D8F}"/>
              </a:ext>
            </a:extLst>
          </p:cNvPr>
          <p:cNvSpPr/>
          <p:nvPr/>
        </p:nvSpPr>
        <p:spPr>
          <a:xfrm>
            <a:off x="2873387" y="3388084"/>
            <a:ext cx="404298" cy="52638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z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6EC9E48-2729-E12D-41C0-80C30523F630}"/>
              </a:ext>
            </a:extLst>
          </p:cNvPr>
          <p:cNvSpPr/>
          <p:nvPr/>
        </p:nvSpPr>
        <p:spPr>
          <a:xfrm>
            <a:off x="5776390" y="3367206"/>
            <a:ext cx="330089" cy="52638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F69DFB6B-10FE-B27A-FBFA-93D9E05CB491}"/>
              </a:ext>
            </a:extLst>
          </p:cNvPr>
          <p:cNvSpPr/>
          <p:nvPr/>
        </p:nvSpPr>
        <p:spPr>
          <a:xfrm>
            <a:off x="8562290" y="3367206"/>
            <a:ext cx="404298" cy="52638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2CB516FF-D5AF-473E-83BC-91187D900C6D}"/>
              </a:ext>
            </a:extLst>
          </p:cNvPr>
          <p:cNvSpPr/>
          <p:nvPr/>
        </p:nvSpPr>
        <p:spPr>
          <a:xfrm>
            <a:off x="1421601" y="3524078"/>
            <a:ext cx="224623" cy="22434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2507C864-1BD9-4A52-A762-EF93804DD47B}"/>
              </a:ext>
            </a:extLst>
          </p:cNvPr>
          <p:cNvSpPr/>
          <p:nvPr/>
        </p:nvSpPr>
        <p:spPr>
          <a:xfrm>
            <a:off x="7189056" y="3538285"/>
            <a:ext cx="224623" cy="22434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71A27CB8-2795-4A18-B5B8-0414FF55D7A5}"/>
              </a:ext>
            </a:extLst>
          </p:cNvPr>
          <p:cNvSpPr/>
          <p:nvPr/>
        </p:nvSpPr>
        <p:spPr>
          <a:xfrm>
            <a:off x="10035123" y="3525949"/>
            <a:ext cx="224623" cy="22434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1B38EA0B-CBE9-93DF-C80C-A29CB0DFBCA4}"/>
              </a:ext>
            </a:extLst>
          </p:cNvPr>
          <p:cNvSpPr/>
          <p:nvPr/>
        </p:nvSpPr>
        <p:spPr>
          <a:xfrm>
            <a:off x="4273653" y="3538285"/>
            <a:ext cx="224623" cy="22434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15CB7-81A8-467B-9A1F-9E1B41992678}"/>
              </a:ext>
            </a:extLst>
          </p:cNvPr>
          <p:cNvSpPr txBox="1">
            <a:spLocks/>
          </p:cNvSpPr>
          <p:nvPr/>
        </p:nvSpPr>
        <p:spPr>
          <a:xfrm>
            <a:off x="730437" y="821083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 dirty="0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 BLUEPRINT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7B74E7D8-6D31-F549-A167-79C8FADC723F}"/>
              </a:ext>
            </a:extLst>
          </p:cNvPr>
          <p:cNvSpPr/>
          <p:nvPr/>
        </p:nvSpPr>
        <p:spPr>
          <a:xfrm>
            <a:off x="3345980" y="2190356"/>
            <a:ext cx="1356384" cy="736912"/>
          </a:xfrm>
          <a:custGeom>
            <a:avLst/>
            <a:gdLst/>
            <a:ahLst/>
            <a:cxnLst/>
            <a:rect l="0" t="0" r="0" b="0"/>
            <a:pathLst>
              <a:path w="1356384" h="736912">
                <a:moveTo>
                  <a:pt x="267414" y="676986"/>
                </a:moveTo>
                <a:cubicBezTo>
                  <a:pt x="404777" y="724921"/>
                  <a:pt x="566318" y="736912"/>
                  <a:pt x="678192" y="736912"/>
                </a:cubicBezTo>
                <a:cubicBezTo>
                  <a:pt x="790103" y="736912"/>
                  <a:pt x="951644" y="724921"/>
                  <a:pt x="1088988" y="676986"/>
                </a:cubicBezTo>
                <a:cubicBezTo>
                  <a:pt x="1132778" y="661708"/>
                  <a:pt x="1174101" y="642784"/>
                  <a:pt x="1210582" y="619424"/>
                </a:cubicBezTo>
                <a:cubicBezTo>
                  <a:pt x="1297136" y="564001"/>
                  <a:pt x="1356384" y="483654"/>
                  <a:pt x="1356384" y="368013"/>
                </a:cubicBezTo>
                <a:cubicBezTo>
                  <a:pt x="1356384" y="50157"/>
                  <a:pt x="910548" y="0"/>
                  <a:pt x="678192" y="0"/>
                </a:cubicBezTo>
                <a:cubicBezTo>
                  <a:pt x="446834" y="0"/>
                  <a:pt x="0" y="51486"/>
                  <a:pt x="0" y="368013"/>
                </a:cubicBezTo>
                <a:cubicBezTo>
                  <a:pt x="0" y="484012"/>
                  <a:pt x="59633" y="564500"/>
                  <a:pt x="146640" y="619942"/>
                </a:cubicBezTo>
                <a:cubicBezTo>
                  <a:pt x="182914" y="643057"/>
                  <a:pt x="223954" y="661821"/>
                  <a:pt x="267414" y="676986"/>
                </a:cubicBezTo>
                <a:moveTo>
                  <a:pt x="678192" y="58720"/>
                </a:moveTo>
                <a:cubicBezTo>
                  <a:pt x="912290" y="58720"/>
                  <a:pt x="1102062" y="115650"/>
                  <a:pt x="1102062" y="185881"/>
                </a:cubicBezTo>
                <a:cubicBezTo>
                  <a:pt x="1102062" y="197627"/>
                  <a:pt x="1096759" y="208996"/>
                  <a:pt x="1086821" y="219790"/>
                </a:cubicBezTo>
                <a:cubicBezTo>
                  <a:pt x="1037360" y="273556"/>
                  <a:pt x="873144" y="313042"/>
                  <a:pt x="678192" y="313042"/>
                </a:cubicBezTo>
                <a:cubicBezTo>
                  <a:pt x="483240" y="313042"/>
                  <a:pt x="319023" y="273556"/>
                  <a:pt x="269562" y="219790"/>
                </a:cubicBezTo>
                <a:cubicBezTo>
                  <a:pt x="259625" y="208996"/>
                  <a:pt x="254322" y="197627"/>
                  <a:pt x="254322" y="185881"/>
                </a:cubicBezTo>
                <a:cubicBezTo>
                  <a:pt x="254322" y="115650"/>
                  <a:pt x="444093" y="58720"/>
                  <a:pt x="678192" y="58720"/>
                </a:cubicBezTo>
                <a:moveTo>
                  <a:pt x="1086821" y="219790"/>
                </a:moveTo>
                <a:cubicBezTo>
                  <a:pt x="1037360" y="273556"/>
                  <a:pt x="873144" y="313042"/>
                  <a:pt x="678192" y="313042"/>
                </a:cubicBezTo>
                <a:cubicBezTo>
                  <a:pt x="483240" y="313042"/>
                  <a:pt x="319023" y="273556"/>
                  <a:pt x="269562" y="219790"/>
                </a:cubicBezTo>
                <a:cubicBezTo>
                  <a:pt x="259625" y="208996"/>
                  <a:pt x="254322" y="197627"/>
                  <a:pt x="254322" y="185881"/>
                </a:cubicBezTo>
                <a:cubicBezTo>
                  <a:pt x="254322" y="115660"/>
                  <a:pt x="444093" y="58720"/>
                  <a:pt x="678192" y="58720"/>
                </a:cubicBezTo>
                <a:cubicBezTo>
                  <a:pt x="912290" y="58720"/>
                  <a:pt x="1102062" y="115660"/>
                  <a:pt x="1102062" y="185881"/>
                </a:cubicBezTo>
                <a:cubicBezTo>
                  <a:pt x="1102062" y="197627"/>
                  <a:pt x="1096759" y="208996"/>
                  <a:pt x="1086821" y="219790"/>
                </a:cubicBez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07A682EA-3F70-FFD1-26B1-F656D0B7DAD9}"/>
              </a:ext>
            </a:extLst>
          </p:cNvPr>
          <p:cNvSpPr/>
          <p:nvPr/>
        </p:nvSpPr>
        <p:spPr>
          <a:xfrm>
            <a:off x="3345980" y="2190356"/>
            <a:ext cx="1356384" cy="736915"/>
          </a:xfrm>
          <a:custGeom>
            <a:avLst/>
            <a:gdLst/>
            <a:ahLst/>
            <a:cxnLst/>
            <a:rect l="0" t="0" r="0" b="0"/>
            <a:pathLst>
              <a:path w="1356384" h="736915">
                <a:moveTo>
                  <a:pt x="267411" y="676984"/>
                </a:moveTo>
                <a:cubicBezTo>
                  <a:pt x="404775" y="724918"/>
                  <a:pt x="566320" y="736915"/>
                  <a:pt x="678192" y="736915"/>
                </a:cubicBezTo>
                <a:cubicBezTo>
                  <a:pt x="790099" y="736915"/>
                  <a:pt x="951640" y="724920"/>
                  <a:pt x="1088991" y="676990"/>
                </a:cubicBezTo>
                <a:cubicBezTo>
                  <a:pt x="1132775" y="661712"/>
                  <a:pt x="1174102" y="642781"/>
                  <a:pt x="1210578" y="619424"/>
                </a:cubicBezTo>
                <a:cubicBezTo>
                  <a:pt x="1297132" y="564001"/>
                  <a:pt x="1356384" y="483651"/>
                  <a:pt x="1356384" y="368016"/>
                </a:cubicBezTo>
                <a:cubicBezTo>
                  <a:pt x="1356384" y="50157"/>
                  <a:pt x="910544" y="0"/>
                  <a:pt x="678192" y="0"/>
                </a:cubicBezTo>
                <a:cubicBezTo>
                  <a:pt x="446832" y="0"/>
                  <a:pt x="0" y="51485"/>
                  <a:pt x="0" y="368016"/>
                </a:cubicBezTo>
                <a:cubicBezTo>
                  <a:pt x="0" y="484011"/>
                  <a:pt x="59633" y="564500"/>
                  <a:pt x="146639" y="619941"/>
                </a:cubicBezTo>
                <a:cubicBezTo>
                  <a:pt x="182917" y="643057"/>
                  <a:pt x="223954" y="661819"/>
                  <a:pt x="267411" y="676984"/>
                </a:cubicBezTo>
                <a:close/>
                <a:moveTo>
                  <a:pt x="678192" y="58723"/>
                </a:moveTo>
                <a:cubicBezTo>
                  <a:pt x="912288" y="58723"/>
                  <a:pt x="1102062" y="115655"/>
                  <a:pt x="1102062" y="185884"/>
                </a:cubicBezTo>
                <a:cubicBezTo>
                  <a:pt x="1102062" y="197627"/>
                  <a:pt x="1096756" y="208999"/>
                  <a:pt x="1086824" y="219794"/>
                </a:cubicBezTo>
                <a:cubicBezTo>
                  <a:pt x="1037358" y="273561"/>
                  <a:pt x="873145" y="313045"/>
                  <a:pt x="678192" y="313045"/>
                </a:cubicBezTo>
                <a:cubicBezTo>
                  <a:pt x="483238" y="313045"/>
                  <a:pt x="319025" y="273561"/>
                  <a:pt x="269559" y="219794"/>
                </a:cubicBezTo>
                <a:cubicBezTo>
                  <a:pt x="259627" y="208999"/>
                  <a:pt x="254322" y="197627"/>
                  <a:pt x="254322" y="185884"/>
                </a:cubicBezTo>
                <a:cubicBezTo>
                  <a:pt x="254322" y="115655"/>
                  <a:pt x="444095" y="58723"/>
                  <a:pt x="678192" y="58723"/>
                </a:cubicBezTo>
                <a:close/>
                <a:moveTo>
                  <a:pt x="1086824" y="219794"/>
                </a:moveTo>
                <a:cubicBezTo>
                  <a:pt x="1037358" y="273560"/>
                  <a:pt x="873145" y="313045"/>
                  <a:pt x="678192" y="313045"/>
                </a:cubicBezTo>
                <a:cubicBezTo>
                  <a:pt x="483238" y="313045"/>
                  <a:pt x="319025" y="273560"/>
                  <a:pt x="269559" y="219794"/>
                </a:cubicBezTo>
                <a:cubicBezTo>
                  <a:pt x="259627" y="208998"/>
                  <a:pt x="254322" y="197627"/>
                  <a:pt x="254322" y="185884"/>
                </a:cubicBezTo>
                <a:cubicBezTo>
                  <a:pt x="254322" y="115656"/>
                  <a:pt x="444095" y="58723"/>
                  <a:pt x="678192" y="58723"/>
                </a:cubicBezTo>
                <a:cubicBezTo>
                  <a:pt x="912288" y="58723"/>
                  <a:pt x="1102062" y="115656"/>
                  <a:pt x="1102062" y="185884"/>
                </a:cubicBezTo>
                <a:cubicBezTo>
                  <a:pt x="1102062" y="197627"/>
                  <a:pt x="1096756" y="208998"/>
                  <a:pt x="1086824" y="219794"/>
                </a:cubicBezTo>
                <a:close/>
              </a:path>
            </a:pathLst>
          </a:custGeom>
          <a:noFill/>
          <a:ln w="1412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CF5196E2-F49E-2BB6-A597-1B85FCC7EE3A}"/>
              </a:ext>
            </a:extLst>
          </p:cNvPr>
          <p:cNvSpPr/>
          <p:nvPr/>
        </p:nvSpPr>
        <p:spPr>
          <a:xfrm>
            <a:off x="3119916" y="2809780"/>
            <a:ext cx="1808512" cy="908711"/>
          </a:xfrm>
          <a:custGeom>
            <a:avLst/>
            <a:gdLst/>
            <a:ahLst/>
            <a:cxnLst/>
            <a:rect l="0" t="0" r="0" b="0"/>
            <a:pathLst>
              <a:path w="1808512" h="908711">
                <a:moveTo>
                  <a:pt x="1469416" y="174003"/>
                </a:moveTo>
                <a:cubicBezTo>
                  <a:pt x="1469416" y="128913"/>
                  <a:pt x="1410743" y="87938"/>
                  <a:pt x="1315052" y="57570"/>
                </a:cubicBezTo>
                <a:cubicBezTo>
                  <a:pt x="1177708" y="105496"/>
                  <a:pt x="1016167" y="117487"/>
                  <a:pt x="904256" y="117487"/>
                </a:cubicBezTo>
                <a:cubicBezTo>
                  <a:pt x="792382" y="117487"/>
                  <a:pt x="630841" y="105496"/>
                  <a:pt x="493478" y="57561"/>
                </a:cubicBezTo>
                <a:cubicBezTo>
                  <a:pt x="397778" y="87929"/>
                  <a:pt x="339096" y="128913"/>
                  <a:pt x="339096" y="174003"/>
                </a:cubicBezTo>
                <a:cubicBezTo>
                  <a:pt x="339096" y="189667"/>
                  <a:pt x="346169" y="204823"/>
                  <a:pt x="359413" y="219216"/>
                </a:cubicBezTo>
                <a:cubicBezTo>
                  <a:pt x="425367" y="290906"/>
                  <a:pt x="644320" y="343551"/>
                  <a:pt x="904256" y="343551"/>
                </a:cubicBezTo>
                <a:cubicBezTo>
                  <a:pt x="1164192" y="343551"/>
                  <a:pt x="1383144" y="290906"/>
                  <a:pt x="1449098" y="219216"/>
                </a:cubicBezTo>
                <a:cubicBezTo>
                  <a:pt x="1462342" y="204823"/>
                  <a:pt x="1469416" y="189667"/>
                  <a:pt x="1469416" y="174003"/>
                </a:cubicBezTo>
                <a:moveTo>
                  <a:pt x="1449098" y="219216"/>
                </a:moveTo>
                <a:cubicBezTo>
                  <a:pt x="1462342" y="204823"/>
                  <a:pt x="1469416" y="189667"/>
                  <a:pt x="1469416" y="174003"/>
                </a:cubicBezTo>
                <a:cubicBezTo>
                  <a:pt x="1469416" y="128913"/>
                  <a:pt x="1410743" y="87938"/>
                  <a:pt x="1315052" y="57561"/>
                </a:cubicBezTo>
                <a:cubicBezTo>
                  <a:pt x="1358842" y="42283"/>
                  <a:pt x="1400165" y="23359"/>
                  <a:pt x="1436646" y="0"/>
                </a:cubicBezTo>
                <a:cubicBezTo>
                  <a:pt x="1640537" y="67141"/>
                  <a:pt x="1808512" y="191561"/>
                  <a:pt x="1808512" y="416852"/>
                </a:cubicBezTo>
                <a:cubicBezTo>
                  <a:pt x="1808512" y="596027"/>
                  <a:pt x="1701819" y="711658"/>
                  <a:pt x="1555282" y="785440"/>
                </a:cubicBezTo>
                <a:cubicBezTo>
                  <a:pt x="1501272" y="812634"/>
                  <a:pt x="1441855" y="834138"/>
                  <a:pt x="1380365" y="851046"/>
                </a:cubicBezTo>
                <a:cubicBezTo>
                  <a:pt x="1214858" y="896551"/>
                  <a:pt x="1034384" y="908711"/>
                  <a:pt x="904256" y="908711"/>
                </a:cubicBezTo>
                <a:cubicBezTo>
                  <a:pt x="774165" y="908711"/>
                  <a:pt x="593691" y="896551"/>
                  <a:pt x="428174" y="851036"/>
                </a:cubicBezTo>
                <a:cubicBezTo>
                  <a:pt x="367127" y="834251"/>
                  <a:pt x="308125" y="812935"/>
                  <a:pt x="254435" y="786024"/>
                </a:cubicBezTo>
                <a:cubicBezTo>
                  <a:pt x="107286" y="712271"/>
                  <a:pt x="0" y="596498"/>
                  <a:pt x="0" y="416852"/>
                </a:cubicBezTo>
                <a:cubicBezTo>
                  <a:pt x="0" y="192389"/>
                  <a:pt x="168511" y="67894"/>
                  <a:pt x="372704" y="518"/>
                </a:cubicBezTo>
                <a:cubicBezTo>
                  <a:pt x="408978" y="23633"/>
                  <a:pt x="450018" y="42396"/>
                  <a:pt x="493478" y="57561"/>
                </a:cubicBezTo>
                <a:cubicBezTo>
                  <a:pt x="397778" y="87929"/>
                  <a:pt x="339096" y="128913"/>
                  <a:pt x="339096" y="174003"/>
                </a:cubicBezTo>
                <a:cubicBezTo>
                  <a:pt x="339096" y="189667"/>
                  <a:pt x="346169" y="204823"/>
                  <a:pt x="359413" y="219216"/>
                </a:cubicBezTo>
                <a:cubicBezTo>
                  <a:pt x="425367" y="290906"/>
                  <a:pt x="644320" y="343551"/>
                  <a:pt x="904256" y="343551"/>
                </a:cubicBezTo>
                <a:cubicBezTo>
                  <a:pt x="1164192" y="343551"/>
                  <a:pt x="1383144" y="290906"/>
                  <a:pt x="1449098" y="219216"/>
                </a:cubicBez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54C4DC9B-9A0C-84B7-4510-9EDA22B491BF}"/>
              </a:ext>
            </a:extLst>
          </p:cNvPr>
          <p:cNvSpPr/>
          <p:nvPr/>
        </p:nvSpPr>
        <p:spPr>
          <a:xfrm>
            <a:off x="3119916" y="2809780"/>
            <a:ext cx="1808512" cy="908715"/>
          </a:xfrm>
          <a:custGeom>
            <a:avLst/>
            <a:gdLst/>
            <a:ahLst/>
            <a:cxnLst/>
            <a:rect l="0" t="0" r="0" b="0"/>
            <a:pathLst>
              <a:path w="1808512" h="908715">
                <a:moveTo>
                  <a:pt x="1469416" y="174007"/>
                </a:moveTo>
                <a:cubicBezTo>
                  <a:pt x="1469416" y="128916"/>
                  <a:pt x="1410745" y="87938"/>
                  <a:pt x="1315055" y="57566"/>
                </a:cubicBezTo>
                <a:cubicBezTo>
                  <a:pt x="1177704" y="105495"/>
                  <a:pt x="1016163" y="117491"/>
                  <a:pt x="904256" y="117491"/>
                </a:cubicBezTo>
                <a:cubicBezTo>
                  <a:pt x="792384" y="117491"/>
                  <a:pt x="630839" y="105493"/>
                  <a:pt x="493475" y="57559"/>
                </a:cubicBezTo>
                <a:cubicBezTo>
                  <a:pt x="397774" y="87932"/>
                  <a:pt x="339096" y="128914"/>
                  <a:pt x="339096" y="174007"/>
                </a:cubicBezTo>
                <a:cubicBezTo>
                  <a:pt x="339096" y="189664"/>
                  <a:pt x="346170" y="204826"/>
                  <a:pt x="359412" y="219220"/>
                </a:cubicBezTo>
                <a:cubicBezTo>
                  <a:pt x="425366" y="290908"/>
                  <a:pt x="644318" y="343555"/>
                  <a:pt x="904256" y="343555"/>
                </a:cubicBezTo>
                <a:cubicBezTo>
                  <a:pt x="1164193" y="343555"/>
                  <a:pt x="1383145" y="290908"/>
                  <a:pt x="1449099" y="219220"/>
                </a:cubicBezTo>
                <a:cubicBezTo>
                  <a:pt x="1462341" y="204826"/>
                  <a:pt x="1469416" y="189664"/>
                  <a:pt x="1469416" y="174007"/>
                </a:cubicBezTo>
                <a:close/>
                <a:moveTo>
                  <a:pt x="1449099" y="219219"/>
                </a:moveTo>
                <a:cubicBezTo>
                  <a:pt x="1462341" y="204826"/>
                  <a:pt x="1469416" y="189664"/>
                  <a:pt x="1469416" y="174007"/>
                </a:cubicBezTo>
                <a:cubicBezTo>
                  <a:pt x="1469416" y="128916"/>
                  <a:pt x="1410745" y="87937"/>
                  <a:pt x="1315055" y="57566"/>
                </a:cubicBezTo>
                <a:cubicBezTo>
                  <a:pt x="1358839" y="42287"/>
                  <a:pt x="1400166" y="23357"/>
                  <a:pt x="1436642" y="0"/>
                </a:cubicBezTo>
                <a:cubicBezTo>
                  <a:pt x="1640541" y="67138"/>
                  <a:pt x="1808512" y="191565"/>
                  <a:pt x="1808512" y="416849"/>
                </a:cubicBezTo>
                <a:cubicBezTo>
                  <a:pt x="1808512" y="596027"/>
                  <a:pt x="1701817" y="711663"/>
                  <a:pt x="1555283" y="785440"/>
                </a:cubicBezTo>
                <a:cubicBezTo>
                  <a:pt x="1501275" y="812633"/>
                  <a:pt x="1441854" y="834139"/>
                  <a:pt x="1380369" y="851044"/>
                </a:cubicBezTo>
                <a:cubicBezTo>
                  <a:pt x="1214858" y="896550"/>
                  <a:pt x="1034388" y="908715"/>
                  <a:pt x="904256" y="908715"/>
                </a:cubicBezTo>
                <a:cubicBezTo>
                  <a:pt x="774163" y="908715"/>
                  <a:pt x="593692" y="896548"/>
                  <a:pt x="428169" y="851036"/>
                </a:cubicBezTo>
                <a:cubicBezTo>
                  <a:pt x="367131" y="834254"/>
                  <a:pt x="308127" y="812938"/>
                  <a:pt x="254431" y="786025"/>
                </a:cubicBezTo>
                <a:cubicBezTo>
                  <a:pt x="107282" y="712274"/>
                  <a:pt x="0" y="596500"/>
                  <a:pt x="0" y="416849"/>
                </a:cubicBezTo>
                <a:cubicBezTo>
                  <a:pt x="0" y="192392"/>
                  <a:pt x="168514" y="67893"/>
                  <a:pt x="372703" y="517"/>
                </a:cubicBezTo>
                <a:cubicBezTo>
                  <a:pt x="408981" y="23633"/>
                  <a:pt x="450018" y="42395"/>
                  <a:pt x="493475" y="57559"/>
                </a:cubicBezTo>
                <a:cubicBezTo>
                  <a:pt x="397774" y="87932"/>
                  <a:pt x="339096" y="128913"/>
                  <a:pt x="339096" y="174007"/>
                </a:cubicBezTo>
                <a:cubicBezTo>
                  <a:pt x="339096" y="189664"/>
                  <a:pt x="346170" y="204826"/>
                  <a:pt x="359412" y="219219"/>
                </a:cubicBezTo>
                <a:cubicBezTo>
                  <a:pt x="425366" y="290909"/>
                  <a:pt x="644318" y="343555"/>
                  <a:pt x="904256" y="343555"/>
                </a:cubicBezTo>
                <a:cubicBezTo>
                  <a:pt x="1164193" y="343555"/>
                  <a:pt x="1383145" y="290909"/>
                  <a:pt x="1449099" y="219219"/>
                </a:cubicBezTo>
                <a:close/>
              </a:path>
            </a:pathLst>
          </a:custGeom>
          <a:noFill/>
          <a:ln w="1412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8DF6208A-D1C6-4338-770D-32ACE05D259A}"/>
              </a:ext>
            </a:extLst>
          </p:cNvPr>
          <p:cNvSpPr/>
          <p:nvPr/>
        </p:nvSpPr>
        <p:spPr>
          <a:xfrm>
            <a:off x="2893852" y="3595148"/>
            <a:ext cx="2260640" cy="1140558"/>
          </a:xfrm>
          <a:custGeom>
            <a:avLst/>
            <a:gdLst/>
            <a:ahLst/>
            <a:cxnLst/>
            <a:rect l="0" t="0" r="0" b="0"/>
            <a:pathLst>
              <a:path w="2260640" h="1140558">
                <a:moveTo>
                  <a:pt x="1836770" y="222173"/>
                </a:moveTo>
                <a:cubicBezTo>
                  <a:pt x="1836770" y="160156"/>
                  <a:pt x="1747974" y="104356"/>
                  <a:pt x="1606429" y="65605"/>
                </a:cubicBezTo>
                <a:cubicBezTo>
                  <a:pt x="1440922" y="111110"/>
                  <a:pt x="1260457" y="123270"/>
                  <a:pt x="1130320" y="123270"/>
                </a:cubicBezTo>
                <a:cubicBezTo>
                  <a:pt x="1000229" y="123270"/>
                  <a:pt x="819755" y="111110"/>
                  <a:pt x="654229" y="65596"/>
                </a:cubicBezTo>
                <a:cubicBezTo>
                  <a:pt x="512684" y="104356"/>
                  <a:pt x="423870" y="160156"/>
                  <a:pt x="423870" y="222173"/>
                </a:cubicBezTo>
                <a:cubicBezTo>
                  <a:pt x="423870" y="241747"/>
                  <a:pt x="432714" y="260698"/>
                  <a:pt x="449264" y="278689"/>
                </a:cubicBezTo>
                <a:cubicBezTo>
                  <a:pt x="531712" y="368305"/>
                  <a:pt x="805400" y="434108"/>
                  <a:pt x="1130320" y="434108"/>
                </a:cubicBezTo>
                <a:cubicBezTo>
                  <a:pt x="1455240" y="434108"/>
                  <a:pt x="1728928" y="368305"/>
                  <a:pt x="1811375" y="278689"/>
                </a:cubicBezTo>
                <a:cubicBezTo>
                  <a:pt x="1827925" y="260698"/>
                  <a:pt x="1836770" y="241747"/>
                  <a:pt x="1836770" y="222173"/>
                </a:cubicBezTo>
                <a:moveTo>
                  <a:pt x="1811375" y="278689"/>
                </a:moveTo>
                <a:cubicBezTo>
                  <a:pt x="1827925" y="260698"/>
                  <a:pt x="1836770" y="241747"/>
                  <a:pt x="1836770" y="222173"/>
                </a:cubicBezTo>
                <a:cubicBezTo>
                  <a:pt x="1836770" y="160156"/>
                  <a:pt x="1747974" y="104356"/>
                  <a:pt x="1606429" y="65605"/>
                </a:cubicBezTo>
                <a:cubicBezTo>
                  <a:pt x="1667919" y="48697"/>
                  <a:pt x="1727336" y="27193"/>
                  <a:pt x="1781346" y="0"/>
                </a:cubicBezTo>
                <a:cubicBezTo>
                  <a:pt x="2042686" y="82777"/>
                  <a:pt x="2260640" y="238817"/>
                  <a:pt x="2260640" y="525730"/>
                </a:cubicBezTo>
                <a:cubicBezTo>
                  <a:pt x="2260640" y="769606"/>
                  <a:pt x="2102517" y="919308"/>
                  <a:pt x="1894152" y="1009837"/>
                </a:cubicBezTo>
                <a:cubicBezTo>
                  <a:pt x="1821859" y="1041241"/>
                  <a:pt x="1743509" y="1065524"/>
                  <a:pt x="1663624" y="1084146"/>
                </a:cubicBezTo>
                <a:cubicBezTo>
                  <a:pt x="1474577" y="1128210"/>
                  <a:pt x="1276903" y="1140558"/>
                  <a:pt x="1130320" y="1140558"/>
                </a:cubicBezTo>
                <a:cubicBezTo>
                  <a:pt x="983783" y="1140558"/>
                  <a:pt x="786109" y="1128210"/>
                  <a:pt x="597044" y="1084137"/>
                </a:cubicBezTo>
                <a:cubicBezTo>
                  <a:pt x="517724" y="1065646"/>
                  <a:pt x="439920" y="1041571"/>
                  <a:pt x="368051" y="1010487"/>
                </a:cubicBezTo>
                <a:cubicBezTo>
                  <a:pt x="158923" y="920033"/>
                  <a:pt x="0" y="770190"/>
                  <a:pt x="0" y="525730"/>
                </a:cubicBezTo>
                <a:cubicBezTo>
                  <a:pt x="0" y="239816"/>
                  <a:pt x="218735" y="83662"/>
                  <a:pt x="480499" y="583"/>
                </a:cubicBezTo>
                <a:cubicBezTo>
                  <a:pt x="534189" y="27495"/>
                  <a:pt x="593192" y="48810"/>
                  <a:pt x="654229" y="65596"/>
                </a:cubicBezTo>
                <a:cubicBezTo>
                  <a:pt x="512684" y="104356"/>
                  <a:pt x="423870" y="160156"/>
                  <a:pt x="423870" y="222173"/>
                </a:cubicBezTo>
                <a:cubicBezTo>
                  <a:pt x="423870" y="241747"/>
                  <a:pt x="432714" y="260698"/>
                  <a:pt x="449264" y="278689"/>
                </a:cubicBezTo>
                <a:cubicBezTo>
                  <a:pt x="531712" y="368305"/>
                  <a:pt x="805400" y="434108"/>
                  <a:pt x="1130320" y="434108"/>
                </a:cubicBezTo>
                <a:cubicBezTo>
                  <a:pt x="1455240" y="434108"/>
                  <a:pt x="1728928" y="368305"/>
                  <a:pt x="1811375" y="278689"/>
                </a:cubicBez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DEE6A5F8-E60E-E3C9-5CC4-D98A476971CF}"/>
              </a:ext>
            </a:extLst>
          </p:cNvPr>
          <p:cNvSpPr/>
          <p:nvPr/>
        </p:nvSpPr>
        <p:spPr>
          <a:xfrm>
            <a:off x="2893852" y="3595148"/>
            <a:ext cx="2260640" cy="1140562"/>
          </a:xfrm>
          <a:custGeom>
            <a:avLst/>
            <a:gdLst/>
            <a:ahLst/>
            <a:cxnLst/>
            <a:rect l="0" t="0" r="0" b="0"/>
            <a:pathLst>
              <a:path w="2260640" h="1140562">
                <a:moveTo>
                  <a:pt x="1836770" y="222177"/>
                </a:moveTo>
                <a:cubicBezTo>
                  <a:pt x="1836770" y="160157"/>
                  <a:pt x="1747970" y="104360"/>
                  <a:pt x="1606433" y="65603"/>
                </a:cubicBezTo>
                <a:cubicBezTo>
                  <a:pt x="1440922" y="111109"/>
                  <a:pt x="1260452" y="123274"/>
                  <a:pt x="1130320" y="123274"/>
                </a:cubicBezTo>
                <a:cubicBezTo>
                  <a:pt x="1000227" y="123274"/>
                  <a:pt x="819756" y="111106"/>
                  <a:pt x="654233" y="65595"/>
                </a:cubicBezTo>
                <a:cubicBezTo>
                  <a:pt x="512681" y="104352"/>
                  <a:pt x="423870" y="160153"/>
                  <a:pt x="423870" y="222177"/>
                </a:cubicBezTo>
                <a:cubicBezTo>
                  <a:pt x="423870" y="241748"/>
                  <a:pt x="432712" y="260701"/>
                  <a:pt x="449266" y="278693"/>
                </a:cubicBezTo>
                <a:cubicBezTo>
                  <a:pt x="531708" y="368304"/>
                  <a:pt x="805397" y="434112"/>
                  <a:pt x="1130320" y="434112"/>
                </a:cubicBezTo>
                <a:cubicBezTo>
                  <a:pt x="1455242" y="434112"/>
                  <a:pt x="1728932" y="368304"/>
                  <a:pt x="1811373" y="278693"/>
                </a:cubicBezTo>
                <a:cubicBezTo>
                  <a:pt x="1827927" y="260701"/>
                  <a:pt x="1836770" y="241748"/>
                  <a:pt x="1836770" y="222177"/>
                </a:cubicBezTo>
                <a:close/>
                <a:moveTo>
                  <a:pt x="1811373" y="278693"/>
                </a:moveTo>
                <a:cubicBezTo>
                  <a:pt x="1827927" y="260700"/>
                  <a:pt x="1836770" y="241749"/>
                  <a:pt x="1836770" y="222177"/>
                </a:cubicBezTo>
                <a:cubicBezTo>
                  <a:pt x="1836770" y="160157"/>
                  <a:pt x="1747970" y="104359"/>
                  <a:pt x="1606433" y="65602"/>
                </a:cubicBezTo>
                <a:cubicBezTo>
                  <a:pt x="1667918" y="48697"/>
                  <a:pt x="1727339" y="27192"/>
                  <a:pt x="1781347" y="0"/>
                </a:cubicBezTo>
                <a:cubicBezTo>
                  <a:pt x="2042689" y="82774"/>
                  <a:pt x="2260640" y="238818"/>
                  <a:pt x="2260640" y="525729"/>
                </a:cubicBezTo>
                <a:cubicBezTo>
                  <a:pt x="2260640" y="769604"/>
                  <a:pt x="2102515" y="919311"/>
                  <a:pt x="1894153" y="1009833"/>
                </a:cubicBezTo>
                <a:cubicBezTo>
                  <a:pt x="1821856" y="1041243"/>
                  <a:pt x="1743512" y="1065528"/>
                  <a:pt x="1663625" y="1084149"/>
                </a:cubicBezTo>
                <a:cubicBezTo>
                  <a:pt x="1474579" y="1128213"/>
                  <a:pt x="1276902" y="1140562"/>
                  <a:pt x="1130320" y="1140562"/>
                </a:cubicBezTo>
                <a:cubicBezTo>
                  <a:pt x="983781" y="1140562"/>
                  <a:pt x="786106" y="1128211"/>
                  <a:pt x="597048" y="1084140"/>
                </a:cubicBezTo>
                <a:cubicBezTo>
                  <a:pt x="517727" y="1065650"/>
                  <a:pt x="439922" y="1041575"/>
                  <a:pt x="368049" y="1010487"/>
                </a:cubicBezTo>
                <a:cubicBezTo>
                  <a:pt x="158921" y="920031"/>
                  <a:pt x="0" y="770191"/>
                  <a:pt x="0" y="525729"/>
                </a:cubicBezTo>
                <a:cubicBezTo>
                  <a:pt x="0" y="239820"/>
                  <a:pt x="218734" y="83658"/>
                  <a:pt x="480495" y="584"/>
                </a:cubicBezTo>
                <a:cubicBezTo>
                  <a:pt x="534191" y="27496"/>
                  <a:pt x="593195" y="48813"/>
                  <a:pt x="654233" y="65596"/>
                </a:cubicBezTo>
                <a:cubicBezTo>
                  <a:pt x="512681" y="104353"/>
                  <a:pt x="423870" y="160154"/>
                  <a:pt x="423870" y="222177"/>
                </a:cubicBezTo>
                <a:cubicBezTo>
                  <a:pt x="423870" y="241749"/>
                  <a:pt x="432712" y="260700"/>
                  <a:pt x="449266" y="278693"/>
                </a:cubicBezTo>
                <a:cubicBezTo>
                  <a:pt x="531708" y="368304"/>
                  <a:pt x="805397" y="434112"/>
                  <a:pt x="1130320" y="434112"/>
                </a:cubicBezTo>
                <a:cubicBezTo>
                  <a:pt x="1455242" y="434112"/>
                  <a:pt x="1728932" y="368304"/>
                  <a:pt x="1811373" y="278693"/>
                </a:cubicBezTo>
                <a:close/>
              </a:path>
            </a:pathLst>
          </a:custGeom>
          <a:noFill/>
          <a:ln w="1412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A5713D97-5CE2-1384-B277-98F2F5462A03}"/>
              </a:ext>
            </a:extLst>
          </p:cNvPr>
          <p:cNvSpPr/>
          <p:nvPr/>
        </p:nvSpPr>
        <p:spPr>
          <a:xfrm>
            <a:off x="2667788" y="4605056"/>
            <a:ext cx="2712768" cy="1374083"/>
          </a:xfrm>
          <a:custGeom>
            <a:avLst/>
            <a:gdLst/>
            <a:ahLst/>
            <a:cxnLst/>
            <a:rect l="0" t="0" r="0" b="0"/>
            <a:pathLst>
              <a:path w="2712768" h="1374083">
                <a:moveTo>
                  <a:pt x="2204124" y="272020"/>
                </a:moveTo>
                <a:cubicBezTo>
                  <a:pt x="2204124" y="192182"/>
                  <a:pt x="2081503" y="120944"/>
                  <a:pt x="1889688" y="74318"/>
                </a:cubicBezTo>
                <a:cubicBezTo>
                  <a:pt x="1700641" y="118382"/>
                  <a:pt x="1502967" y="130730"/>
                  <a:pt x="1356384" y="130730"/>
                </a:cubicBezTo>
                <a:cubicBezTo>
                  <a:pt x="1209847" y="130730"/>
                  <a:pt x="1012173" y="118382"/>
                  <a:pt x="823108" y="74309"/>
                </a:cubicBezTo>
                <a:cubicBezTo>
                  <a:pt x="631274" y="120934"/>
                  <a:pt x="508644" y="192182"/>
                  <a:pt x="508644" y="272020"/>
                </a:cubicBezTo>
                <a:cubicBezTo>
                  <a:pt x="508644" y="295503"/>
                  <a:pt x="519259" y="318251"/>
                  <a:pt x="539115" y="339840"/>
                </a:cubicBezTo>
                <a:cubicBezTo>
                  <a:pt x="638046" y="447371"/>
                  <a:pt x="966480" y="526342"/>
                  <a:pt x="1356384" y="526342"/>
                </a:cubicBezTo>
                <a:cubicBezTo>
                  <a:pt x="1746288" y="526342"/>
                  <a:pt x="2074721" y="447371"/>
                  <a:pt x="2173652" y="339840"/>
                </a:cubicBezTo>
                <a:cubicBezTo>
                  <a:pt x="2193508" y="318251"/>
                  <a:pt x="2204124" y="295503"/>
                  <a:pt x="2204124" y="272020"/>
                </a:cubicBezTo>
                <a:moveTo>
                  <a:pt x="2173652" y="339840"/>
                </a:moveTo>
                <a:cubicBezTo>
                  <a:pt x="2193508" y="318241"/>
                  <a:pt x="2204124" y="295503"/>
                  <a:pt x="2204124" y="272020"/>
                </a:cubicBezTo>
                <a:cubicBezTo>
                  <a:pt x="2204124" y="192182"/>
                  <a:pt x="2081503" y="120944"/>
                  <a:pt x="1889688" y="74318"/>
                </a:cubicBezTo>
                <a:cubicBezTo>
                  <a:pt x="1969573" y="55696"/>
                  <a:pt x="2047923" y="31413"/>
                  <a:pt x="2120216" y="0"/>
                </a:cubicBezTo>
                <a:cubicBezTo>
                  <a:pt x="2441491" y="97885"/>
                  <a:pt x="2712768" y="285641"/>
                  <a:pt x="2712768" y="636285"/>
                </a:cubicBezTo>
                <a:cubicBezTo>
                  <a:pt x="2712768" y="889637"/>
                  <a:pt x="2570555" y="1058299"/>
                  <a:pt x="2370130" y="1169504"/>
                </a:cubicBezTo>
                <a:cubicBezTo>
                  <a:pt x="2300757" y="1208001"/>
                  <a:pt x="2224404" y="1239603"/>
                  <a:pt x="2144575" y="1265468"/>
                </a:cubicBezTo>
                <a:cubicBezTo>
                  <a:pt x="1877424" y="1351985"/>
                  <a:pt x="1571182" y="1374083"/>
                  <a:pt x="1356384" y="1374083"/>
                </a:cubicBezTo>
                <a:cubicBezTo>
                  <a:pt x="1141651" y="1374083"/>
                  <a:pt x="835400" y="1351975"/>
                  <a:pt x="568230" y="1265449"/>
                </a:cubicBezTo>
                <a:cubicBezTo>
                  <a:pt x="489014" y="1239791"/>
                  <a:pt x="413226" y="1208472"/>
                  <a:pt x="344276" y="1170380"/>
                </a:cubicBezTo>
                <a:cubicBezTo>
                  <a:pt x="142994" y="1059185"/>
                  <a:pt x="0" y="890306"/>
                  <a:pt x="0" y="636285"/>
                </a:cubicBezTo>
                <a:cubicBezTo>
                  <a:pt x="0" y="286828"/>
                  <a:pt x="272303" y="98903"/>
                  <a:pt x="594115" y="649"/>
                </a:cubicBezTo>
                <a:cubicBezTo>
                  <a:pt x="665984" y="31743"/>
                  <a:pt x="743788" y="55818"/>
                  <a:pt x="823108" y="74309"/>
                </a:cubicBezTo>
                <a:cubicBezTo>
                  <a:pt x="631274" y="120934"/>
                  <a:pt x="508644" y="192182"/>
                  <a:pt x="508644" y="272020"/>
                </a:cubicBezTo>
                <a:cubicBezTo>
                  <a:pt x="508644" y="295503"/>
                  <a:pt x="519259" y="318241"/>
                  <a:pt x="539115" y="339840"/>
                </a:cubicBezTo>
                <a:cubicBezTo>
                  <a:pt x="638046" y="447371"/>
                  <a:pt x="966480" y="526342"/>
                  <a:pt x="1356384" y="526342"/>
                </a:cubicBezTo>
                <a:cubicBezTo>
                  <a:pt x="1746288" y="526342"/>
                  <a:pt x="2074721" y="447371"/>
                  <a:pt x="2173652" y="339840"/>
                </a:cubicBezTo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E9FC69BF-30E0-396F-8485-F5FE9CAE95FC}"/>
              </a:ext>
            </a:extLst>
          </p:cNvPr>
          <p:cNvSpPr/>
          <p:nvPr/>
        </p:nvSpPr>
        <p:spPr>
          <a:xfrm>
            <a:off x="2667788" y="4605056"/>
            <a:ext cx="2712768" cy="1374080"/>
          </a:xfrm>
          <a:custGeom>
            <a:avLst/>
            <a:gdLst/>
            <a:ahLst/>
            <a:cxnLst/>
            <a:rect l="0" t="0" r="0" b="0"/>
            <a:pathLst>
              <a:path w="2712768" h="1374080">
                <a:moveTo>
                  <a:pt x="2204124" y="272018"/>
                </a:moveTo>
                <a:cubicBezTo>
                  <a:pt x="2204124" y="192183"/>
                  <a:pt x="2081507" y="120941"/>
                  <a:pt x="1889689" y="74315"/>
                </a:cubicBezTo>
                <a:cubicBezTo>
                  <a:pt x="1700643" y="118379"/>
                  <a:pt x="1502966" y="130728"/>
                  <a:pt x="1356384" y="130728"/>
                </a:cubicBezTo>
                <a:cubicBezTo>
                  <a:pt x="1209845" y="130728"/>
                  <a:pt x="1012170" y="118377"/>
                  <a:pt x="823112" y="74306"/>
                </a:cubicBezTo>
                <a:cubicBezTo>
                  <a:pt x="631275" y="120933"/>
                  <a:pt x="508644" y="192179"/>
                  <a:pt x="508644" y="272018"/>
                </a:cubicBezTo>
                <a:cubicBezTo>
                  <a:pt x="508644" y="295504"/>
                  <a:pt x="519255" y="318246"/>
                  <a:pt x="539119" y="339837"/>
                </a:cubicBezTo>
                <a:cubicBezTo>
                  <a:pt x="638049" y="447371"/>
                  <a:pt x="966476" y="526340"/>
                  <a:pt x="1356384" y="526340"/>
                </a:cubicBezTo>
                <a:cubicBezTo>
                  <a:pt x="1746291" y="526340"/>
                  <a:pt x="2074717" y="447371"/>
                  <a:pt x="2173648" y="339837"/>
                </a:cubicBezTo>
                <a:cubicBezTo>
                  <a:pt x="2193512" y="318246"/>
                  <a:pt x="2204124" y="295504"/>
                  <a:pt x="2204124" y="272018"/>
                </a:cubicBezTo>
                <a:close/>
                <a:moveTo>
                  <a:pt x="2173648" y="339837"/>
                </a:moveTo>
                <a:cubicBezTo>
                  <a:pt x="2193512" y="318246"/>
                  <a:pt x="2204124" y="295504"/>
                  <a:pt x="2204124" y="272018"/>
                </a:cubicBezTo>
                <a:cubicBezTo>
                  <a:pt x="2204124" y="192183"/>
                  <a:pt x="2081507" y="120941"/>
                  <a:pt x="1889689" y="74314"/>
                </a:cubicBezTo>
                <a:cubicBezTo>
                  <a:pt x="1969576" y="55693"/>
                  <a:pt x="2047920" y="31409"/>
                  <a:pt x="2120217" y="0"/>
                </a:cubicBezTo>
                <a:cubicBezTo>
                  <a:pt x="2441493" y="97881"/>
                  <a:pt x="2712768" y="285639"/>
                  <a:pt x="2712768" y="636281"/>
                </a:cubicBezTo>
                <a:cubicBezTo>
                  <a:pt x="2712768" y="889636"/>
                  <a:pt x="2570554" y="1058297"/>
                  <a:pt x="2370129" y="1169505"/>
                </a:cubicBezTo>
                <a:cubicBezTo>
                  <a:pt x="2300756" y="1207998"/>
                  <a:pt x="2224407" y="1239607"/>
                  <a:pt x="2144570" y="1265464"/>
                </a:cubicBezTo>
                <a:cubicBezTo>
                  <a:pt x="1877419" y="1351983"/>
                  <a:pt x="1571185" y="1374080"/>
                  <a:pt x="1356384" y="1374080"/>
                </a:cubicBezTo>
                <a:cubicBezTo>
                  <a:pt x="1141648" y="1374080"/>
                  <a:pt x="835405" y="1351979"/>
                  <a:pt x="568232" y="1265450"/>
                </a:cubicBezTo>
                <a:cubicBezTo>
                  <a:pt x="489011" y="1239794"/>
                  <a:pt x="413226" y="1208472"/>
                  <a:pt x="344279" y="1170383"/>
                </a:cubicBezTo>
                <a:cubicBezTo>
                  <a:pt x="142993" y="1059184"/>
                  <a:pt x="0" y="890303"/>
                  <a:pt x="0" y="636281"/>
                </a:cubicBezTo>
                <a:cubicBezTo>
                  <a:pt x="0" y="286831"/>
                  <a:pt x="272302" y="98902"/>
                  <a:pt x="594113" y="653"/>
                </a:cubicBezTo>
                <a:cubicBezTo>
                  <a:pt x="665986" y="31742"/>
                  <a:pt x="743791" y="55816"/>
                  <a:pt x="823112" y="74306"/>
                </a:cubicBezTo>
                <a:cubicBezTo>
                  <a:pt x="631275" y="120932"/>
                  <a:pt x="508644" y="192178"/>
                  <a:pt x="508644" y="272018"/>
                </a:cubicBezTo>
                <a:cubicBezTo>
                  <a:pt x="508644" y="295504"/>
                  <a:pt x="519255" y="318246"/>
                  <a:pt x="539119" y="339837"/>
                </a:cubicBezTo>
                <a:cubicBezTo>
                  <a:pt x="638049" y="447371"/>
                  <a:pt x="966476" y="526340"/>
                  <a:pt x="1356384" y="526340"/>
                </a:cubicBezTo>
                <a:cubicBezTo>
                  <a:pt x="1746291" y="526340"/>
                  <a:pt x="2074717" y="447371"/>
                  <a:pt x="2173648" y="339837"/>
                </a:cubicBezTo>
                <a:close/>
              </a:path>
            </a:pathLst>
          </a:custGeom>
          <a:noFill/>
          <a:ln w="1412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94A74475-9F68-E0F0-9728-934B9CFDFDE2}"/>
              </a:ext>
            </a:extLst>
          </p:cNvPr>
          <p:cNvSpPr/>
          <p:nvPr/>
        </p:nvSpPr>
        <p:spPr>
          <a:xfrm>
            <a:off x="5616038" y="2116967"/>
            <a:ext cx="433246" cy="414409"/>
          </a:xfrm>
          <a:custGeom>
            <a:avLst/>
            <a:gdLst/>
            <a:ahLst/>
            <a:cxnLst/>
            <a:rect l="0" t="0" r="0" b="0"/>
            <a:pathLst>
              <a:path w="433246" h="414409">
                <a:moveTo>
                  <a:pt x="37673" y="0"/>
                </a:moveTo>
                <a:lnTo>
                  <a:pt x="395572" y="0"/>
                </a:lnTo>
                <a:cubicBezTo>
                  <a:pt x="395572" y="0"/>
                  <a:pt x="433246" y="0"/>
                  <a:pt x="433246" y="37673"/>
                </a:cubicBezTo>
                <a:lnTo>
                  <a:pt x="433246" y="376735"/>
                </a:lnTo>
                <a:cubicBezTo>
                  <a:pt x="433246" y="376735"/>
                  <a:pt x="433246" y="414409"/>
                  <a:pt x="395572" y="414409"/>
                </a:cubicBezTo>
                <a:lnTo>
                  <a:pt x="37673" y="414409"/>
                </a:lnTo>
                <a:cubicBezTo>
                  <a:pt x="37673" y="414409"/>
                  <a:pt x="0" y="414409"/>
                  <a:pt x="0" y="376735"/>
                </a:cubicBezTo>
                <a:lnTo>
                  <a:pt x="0" y="37673"/>
                </a:lnTo>
                <a:cubicBezTo>
                  <a:pt x="0" y="37673"/>
                  <a:pt x="0" y="0"/>
                  <a:pt x="37673" y="0"/>
                </a:cubicBezTo>
                <a:moveTo>
                  <a:pt x="0" y="94183"/>
                </a:moveTo>
                <a:lnTo>
                  <a:pt x="433246" y="94183"/>
                </a:lnTo>
                <a:moveTo>
                  <a:pt x="65928" y="42382"/>
                </a:moveTo>
                <a:cubicBezTo>
                  <a:pt x="63327" y="42382"/>
                  <a:pt x="61219" y="44491"/>
                  <a:pt x="61219" y="47091"/>
                </a:cubicBezTo>
                <a:cubicBezTo>
                  <a:pt x="61219" y="49692"/>
                  <a:pt x="63327" y="51801"/>
                  <a:pt x="65928" y="51801"/>
                </a:cubicBezTo>
                <a:cubicBezTo>
                  <a:pt x="68529" y="51801"/>
                  <a:pt x="70637" y="49692"/>
                  <a:pt x="70637" y="47091"/>
                </a:cubicBezTo>
                <a:cubicBezTo>
                  <a:pt x="70637" y="44491"/>
                  <a:pt x="68529" y="42382"/>
                  <a:pt x="65928" y="42382"/>
                </a:cubicBezTo>
                <a:moveTo>
                  <a:pt x="122439" y="42382"/>
                </a:moveTo>
                <a:cubicBezTo>
                  <a:pt x="119838" y="42382"/>
                  <a:pt x="117729" y="44491"/>
                  <a:pt x="117729" y="47091"/>
                </a:cubicBezTo>
                <a:cubicBezTo>
                  <a:pt x="117729" y="49692"/>
                  <a:pt x="119838" y="51801"/>
                  <a:pt x="122439" y="51801"/>
                </a:cubicBezTo>
                <a:cubicBezTo>
                  <a:pt x="125039" y="51801"/>
                  <a:pt x="127148" y="49692"/>
                  <a:pt x="127148" y="47091"/>
                </a:cubicBezTo>
                <a:cubicBezTo>
                  <a:pt x="127148" y="44491"/>
                  <a:pt x="125039" y="42382"/>
                  <a:pt x="122439" y="42382"/>
                </a:cubicBezTo>
                <a:moveTo>
                  <a:pt x="178949" y="42382"/>
                </a:moveTo>
                <a:cubicBezTo>
                  <a:pt x="176348" y="42382"/>
                  <a:pt x="174240" y="44491"/>
                  <a:pt x="174240" y="47091"/>
                </a:cubicBezTo>
                <a:cubicBezTo>
                  <a:pt x="174240" y="49692"/>
                  <a:pt x="176348" y="51801"/>
                  <a:pt x="178949" y="51801"/>
                </a:cubicBezTo>
                <a:cubicBezTo>
                  <a:pt x="181550" y="51801"/>
                  <a:pt x="183658" y="49692"/>
                  <a:pt x="183658" y="47091"/>
                </a:cubicBezTo>
                <a:cubicBezTo>
                  <a:pt x="183658" y="44491"/>
                  <a:pt x="181550" y="42382"/>
                  <a:pt x="178949" y="42382"/>
                </a:cubicBezTo>
                <a:moveTo>
                  <a:pt x="0" y="254296"/>
                </a:moveTo>
                <a:lnTo>
                  <a:pt x="433246" y="254296"/>
                </a:lnTo>
                <a:moveTo>
                  <a:pt x="103602" y="94183"/>
                </a:moveTo>
                <a:lnTo>
                  <a:pt x="103602" y="414409"/>
                </a:lnTo>
                <a:moveTo>
                  <a:pt x="103602" y="226041"/>
                </a:moveTo>
                <a:lnTo>
                  <a:pt x="131198" y="170868"/>
                </a:lnTo>
                <a:cubicBezTo>
                  <a:pt x="140102" y="153048"/>
                  <a:pt x="158388" y="141865"/>
                  <a:pt x="178308" y="142057"/>
                </a:cubicBezTo>
                <a:cubicBezTo>
                  <a:pt x="198229" y="142249"/>
                  <a:pt x="216295" y="153783"/>
                  <a:pt x="224854" y="171772"/>
                </a:cubicBezTo>
                <a:lnTo>
                  <a:pt x="232257" y="187294"/>
                </a:lnTo>
                <a:cubicBezTo>
                  <a:pt x="240438" y="204482"/>
                  <a:pt x="257339" y="215842"/>
                  <a:pt x="276344" y="216929"/>
                </a:cubicBezTo>
                <a:cubicBezTo>
                  <a:pt x="295349" y="218016"/>
                  <a:pt x="313434" y="208655"/>
                  <a:pt x="323521" y="192511"/>
                </a:cubicBezTo>
                <a:lnTo>
                  <a:pt x="323521" y="192511"/>
                </a:lnTo>
                <a:cubicBezTo>
                  <a:pt x="333001" y="177334"/>
                  <a:pt x="349606" y="168084"/>
                  <a:pt x="367501" y="168011"/>
                </a:cubicBezTo>
                <a:cubicBezTo>
                  <a:pt x="385395" y="167938"/>
                  <a:pt x="402075" y="177054"/>
                  <a:pt x="411678" y="192154"/>
                </a:cubicBezTo>
                <a:lnTo>
                  <a:pt x="433246" y="226041"/>
                </a:lnTo>
                <a:moveTo>
                  <a:pt x="103602" y="340814"/>
                </a:moveTo>
                <a:lnTo>
                  <a:pt x="134513" y="309902"/>
                </a:lnTo>
                <a:cubicBezTo>
                  <a:pt x="140741" y="303674"/>
                  <a:pt x="149460" y="300608"/>
                  <a:pt x="158216" y="301567"/>
                </a:cubicBezTo>
                <a:cubicBezTo>
                  <a:pt x="166972" y="302527"/>
                  <a:pt x="174820" y="307408"/>
                  <a:pt x="179552" y="314838"/>
                </a:cubicBezTo>
                <a:lnTo>
                  <a:pt x="202702" y="351211"/>
                </a:lnTo>
                <a:cubicBezTo>
                  <a:pt x="207906" y="359398"/>
                  <a:pt x="216856" y="364445"/>
                  <a:pt x="226554" y="364660"/>
                </a:cubicBezTo>
                <a:cubicBezTo>
                  <a:pt x="236253" y="364876"/>
                  <a:pt x="245418" y="360233"/>
                  <a:pt x="250981" y="352285"/>
                </a:cubicBezTo>
                <a:lnTo>
                  <a:pt x="266823" y="329681"/>
                </a:lnTo>
                <a:cubicBezTo>
                  <a:pt x="272403" y="321695"/>
                  <a:pt x="281619" y="317043"/>
                  <a:pt x="291358" y="317297"/>
                </a:cubicBezTo>
                <a:cubicBezTo>
                  <a:pt x="301097" y="317551"/>
                  <a:pt x="310058" y="322677"/>
                  <a:pt x="315214" y="330943"/>
                </a:cubicBezTo>
                <a:lnTo>
                  <a:pt x="316043" y="332262"/>
                </a:lnTo>
                <a:cubicBezTo>
                  <a:pt x="321183" y="340482"/>
                  <a:pt x="330086" y="345595"/>
                  <a:pt x="339776" y="345894"/>
                </a:cubicBezTo>
                <a:cubicBezTo>
                  <a:pt x="349466" y="346193"/>
                  <a:pt x="358666" y="341637"/>
                  <a:pt x="364303" y="333750"/>
                </a:cubicBezTo>
                <a:lnTo>
                  <a:pt x="364303" y="333750"/>
                </a:lnTo>
                <a:cubicBezTo>
                  <a:pt x="369534" y="326436"/>
                  <a:pt x="377858" y="321957"/>
                  <a:pt x="386844" y="321622"/>
                </a:cubicBezTo>
                <a:cubicBezTo>
                  <a:pt x="395830" y="321287"/>
                  <a:pt x="404465" y="325132"/>
                  <a:pt x="410227" y="332036"/>
                </a:cubicBezTo>
                <a:lnTo>
                  <a:pt x="433246" y="359650"/>
                </a:lnTo>
              </a:path>
            </a:pathLst>
          </a:custGeom>
          <a:noFill/>
          <a:ln w="14128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0792AA-9BE5-3E62-5B27-8282020B3C7F}"/>
              </a:ext>
            </a:extLst>
          </p:cNvPr>
          <p:cNvSpPr txBox="1"/>
          <p:nvPr/>
        </p:nvSpPr>
        <p:spPr>
          <a:xfrm>
            <a:off x="6303614" y="2222466"/>
            <a:ext cx="1846659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E55753"/>
                </a:solidFill>
                <a:latin typeface="Arial"/>
              </a:rPr>
              <a:t>Presentation Layer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007559-7BFD-239C-AECD-FE5A59EAC71E}"/>
              </a:ext>
            </a:extLst>
          </p:cNvPr>
          <p:cNvSpPr txBox="1"/>
          <p:nvPr/>
        </p:nvSpPr>
        <p:spPr>
          <a:xfrm>
            <a:off x="6307404" y="2548522"/>
            <a:ext cx="214802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latin typeface="Arial"/>
              </a:rPr>
              <a:t>UI for analysis and visualization</a:t>
            </a:r>
          </a:p>
        </p:txBody>
      </p:sp>
      <p:sp>
        <p:nvSpPr>
          <p:cNvPr id="22" name="Rounded Rectangle 12">
            <a:extLst>
              <a:ext uri="{FF2B5EF4-FFF2-40B4-BE49-F238E27FC236}">
                <a16:creationId xmlns:a16="http://schemas.microsoft.com/office/drawing/2014/main" id="{185F59F9-DA51-595A-A080-3F63B5830C16}"/>
              </a:ext>
            </a:extLst>
          </p:cNvPr>
          <p:cNvSpPr/>
          <p:nvPr/>
        </p:nvSpPr>
        <p:spPr>
          <a:xfrm>
            <a:off x="5612248" y="3129291"/>
            <a:ext cx="433246" cy="433251"/>
          </a:xfrm>
          <a:custGeom>
            <a:avLst/>
            <a:gdLst/>
            <a:ahLst/>
            <a:cxnLst/>
            <a:rect l="0" t="0" r="0" b="0"/>
            <a:pathLst>
              <a:path w="433246" h="433251">
                <a:moveTo>
                  <a:pt x="198633" y="409775"/>
                </a:moveTo>
                <a:lnTo>
                  <a:pt x="198633" y="360912"/>
                </a:lnTo>
                <a:lnTo>
                  <a:pt x="245556" y="341360"/>
                </a:lnTo>
                <a:lnTo>
                  <a:pt x="265108" y="292478"/>
                </a:lnTo>
                <a:lnTo>
                  <a:pt x="374588" y="292478"/>
                </a:lnTo>
                <a:lnTo>
                  <a:pt x="394140" y="341360"/>
                </a:lnTo>
                <a:lnTo>
                  <a:pt x="433246" y="360912"/>
                </a:lnTo>
                <a:lnTo>
                  <a:pt x="433246" y="409775"/>
                </a:lnTo>
                <a:moveTo>
                  <a:pt x="237720" y="409775"/>
                </a:moveTo>
                <a:cubicBezTo>
                  <a:pt x="237717" y="422740"/>
                  <a:pt x="248226" y="433251"/>
                  <a:pt x="261190" y="433251"/>
                </a:cubicBezTo>
                <a:cubicBezTo>
                  <a:pt x="274155" y="433251"/>
                  <a:pt x="284664" y="422740"/>
                  <a:pt x="284661" y="409775"/>
                </a:cubicBezTo>
                <a:cubicBezTo>
                  <a:pt x="284664" y="396810"/>
                  <a:pt x="274155" y="386299"/>
                  <a:pt x="261190" y="386299"/>
                </a:cubicBezTo>
                <a:cubicBezTo>
                  <a:pt x="248226" y="386299"/>
                  <a:pt x="237717" y="396810"/>
                  <a:pt x="237720" y="409775"/>
                </a:cubicBezTo>
                <a:moveTo>
                  <a:pt x="347218" y="409775"/>
                </a:moveTo>
                <a:cubicBezTo>
                  <a:pt x="347215" y="422740"/>
                  <a:pt x="357724" y="433251"/>
                  <a:pt x="370689" y="433251"/>
                </a:cubicBezTo>
                <a:cubicBezTo>
                  <a:pt x="383653" y="433251"/>
                  <a:pt x="394162" y="422740"/>
                  <a:pt x="394159" y="409775"/>
                </a:cubicBezTo>
                <a:cubicBezTo>
                  <a:pt x="394162" y="396810"/>
                  <a:pt x="383653" y="386299"/>
                  <a:pt x="370689" y="386299"/>
                </a:cubicBezTo>
                <a:cubicBezTo>
                  <a:pt x="357724" y="386299"/>
                  <a:pt x="347215" y="396810"/>
                  <a:pt x="347218" y="409775"/>
                </a:cubicBezTo>
                <a:moveTo>
                  <a:pt x="237739" y="409775"/>
                </a:moveTo>
                <a:lnTo>
                  <a:pt x="198633" y="409775"/>
                </a:lnTo>
                <a:moveTo>
                  <a:pt x="347218" y="409775"/>
                </a:moveTo>
                <a:lnTo>
                  <a:pt x="292478" y="409775"/>
                </a:lnTo>
                <a:moveTo>
                  <a:pt x="433246" y="409775"/>
                </a:moveTo>
                <a:lnTo>
                  <a:pt x="394140" y="409775"/>
                </a:lnTo>
                <a:moveTo>
                  <a:pt x="319132" y="253373"/>
                </a:moveTo>
                <a:lnTo>
                  <a:pt x="320564" y="253373"/>
                </a:lnTo>
                <a:cubicBezTo>
                  <a:pt x="330967" y="253373"/>
                  <a:pt x="339401" y="261807"/>
                  <a:pt x="339401" y="272210"/>
                </a:cubicBezTo>
                <a:lnTo>
                  <a:pt x="339401" y="292478"/>
                </a:lnTo>
                <a:lnTo>
                  <a:pt x="339401" y="292478"/>
                </a:lnTo>
                <a:lnTo>
                  <a:pt x="300296" y="292478"/>
                </a:lnTo>
                <a:lnTo>
                  <a:pt x="300296" y="292478"/>
                </a:lnTo>
                <a:lnTo>
                  <a:pt x="300296" y="272210"/>
                </a:lnTo>
                <a:cubicBezTo>
                  <a:pt x="300296" y="261807"/>
                  <a:pt x="308729" y="253373"/>
                  <a:pt x="319132" y="253373"/>
                </a:cubicBezTo>
                <a:close/>
                <a:moveTo>
                  <a:pt x="364322" y="214268"/>
                </a:moveTo>
                <a:cubicBezTo>
                  <a:pt x="342318" y="193093"/>
                  <a:pt x="307513" y="193093"/>
                  <a:pt x="285509" y="214268"/>
                </a:cubicBezTo>
                <a:moveTo>
                  <a:pt x="388037" y="176086"/>
                </a:moveTo>
                <a:cubicBezTo>
                  <a:pt x="352814" y="142235"/>
                  <a:pt x="297148" y="142235"/>
                  <a:pt x="261925" y="176086"/>
                </a:cubicBezTo>
                <a:moveTo>
                  <a:pt x="0" y="357898"/>
                </a:moveTo>
                <a:lnTo>
                  <a:pt x="150694" y="357898"/>
                </a:lnTo>
                <a:moveTo>
                  <a:pt x="122439" y="390863"/>
                </a:moveTo>
                <a:cubicBezTo>
                  <a:pt x="119838" y="390863"/>
                  <a:pt x="117729" y="392971"/>
                  <a:pt x="117729" y="395572"/>
                </a:cubicBezTo>
                <a:lnTo>
                  <a:pt x="117729" y="395572"/>
                </a:lnTo>
                <a:cubicBezTo>
                  <a:pt x="117729" y="398173"/>
                  <a:pt x="119838" y="400281"/>
                  <a:pt x="122439" y="400281"/>
                </a:cubicBezTo>
                <a:lnTo>
                  <a:pt x="122439" y="400281"/>
                </a:lnTo>
                <a:cubicBezTo>
                  <a:pt x="125039" y="400281"/>
                  <a:pt x="127148" y="398173"/>
                  <a:pt x="127148" y="395572"/>
                </a:cubicBezTo>
                <a:lnTo>
                  <a:pt x="127148" y="395572"/>
                </a:lnTo>
                <a:cubicBezTo>
                  <a:pt x="127148" y="392971"/>
                  <a:pt x="125039" y="390863"/>
                  <a:pt x="122439" y="390863"/>
                </a:cubicBezTo>
                <a:moveTo>
                  <a:pt x="122439" y="390863"/>
                </a:moveTo>
                <a:lnTo>
                  <a:pt x="122439" y="390863"/>
                </a:lnTo>
                <a:moveTo>
                  <a:pt x="150694" y="433246"/>
                </a:moveTo>
                <a:lnTo>
                  <a:pt x="37673" y="433246"/>
                </a:lnTo>
                <a:cubicBezTo>
                  <a:pt x="16867" y="433246"/>
                  <a:pt x="0" y="416379"/>
                  <a:pt x="0" y="395572"/>
                </a:cubicBezTo>
                <a:lnTo>
                  <a:pt x="0" y="37673"/>
                </a:lnTo>
                <a:cubicBezTo>
                  <a:pt x="0" y="16867"/>
                  <a:pt x="16867" y="0"/>
                  <a:pt x="37673" y="0"/>
                </a:cubicBezTo>
                <a:lnTo>
                  <a:pt x="207204" y="0"/>
                </a:lnTo>
                <a:cubicBezTo>
                  <a:pt x="228011" y="0"/>
                  <a:pt x="244878" y="16867"/>
                  <a:pt x="244878" y="37673"/>
                </a:cubicBezTo>
                <a:lnTo>
                  <a:pt x="244878" y="122439"/>
                </a:lnTo>
                <a:moveTo>
                  <a:pt x="394140" y="341360"/>
                </a:moveTo>
                <a:lnTo>
                  <a:pt x="245556" y="341360"/>
                </a:lnTo>
              </a:path>
            </a:pathLst>
          </a:custGeom>
          <a:noFill/>
          <a:ln w="14128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6835F2-F8AA-2E6A-AE85-B44178E2E5AF}"/>
              </a:ext>
            </a:extLst>
          </p:cNvPr>
          <p:cNvSpPr txBox="1"/>
          <p:nvPr/>
        </p:nvSpPr>
        <p:spPr>
          <a:xfrm>
            <a:off x="6299824" y="3244208"/>
            <a:ext cx="1514838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DE8431"/>
                </a:solidFill>
                <a:latin typeface="Arial"/>
              </a:rPr>
              <a:t>Business Layer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C8D9A1-4650-85BA-A20D-E4C0B6C144D7}"/>
              </a:ext>
            </a:extLst>
          </p:cNvPr>
          <p:cNvSpPr txBox="1"/>
          <p:nvPr/>
        </p:nvSpPr>
        <p:spPr>
          <a:xfrm>
            <a:off x="6303614" y="3577800"/>
            <a:ext cx="262732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latin typeface="Roboto"/>
              </a:rPr>
              <a:t>End-user </a:t>
            </a:r>
            <a:r>
              <a:rPr sz="1200" b="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200" b="0" dirty="0">
                <a:latin typeface="Roboto"/>
              </a:rPr>
              <a:t> fleet operator interaction</a:t>
            </a:r>
          </a:p>
        </p:txBody>
      </p:sp>
      <p:sp>
        <p:nvSpPr>
          <p:cNvPr id="25" name="Rounded Rectangle 15">
            <a:extLst>
              <a:ext uri="{FF2B5EF4-FFF2-40B4-BE49-F238E27FC236}">
                <a16:creationId xmlns:a16="http://schemas.microsoft.com/office/drawing/2014/main" id="{1A07DC19-2685-A6AB-E98F-E921C3AE7F53}"/>
              </a:ext>
            </a:extLst>
          </p:cNvPr>
          <p:cNvSpPr/>
          <p:nvPr/>
        </p:nvSpPr>
        <p:spPr>
          <a:xfrm>
            <a:off x="5616038" y="4177853"/>
            <a:ext cx="434111" cy="433181"/>
          </a:xfrm>
          <a:custGeom>
            <a:avLst/>
            <a:gdLst/>
            <a:ahLst/>
            <a:cxnLst/>
            <a:rect l="0" t="0" r="0" b="0"/>
            <a:pathLst>
              <a:path w="434111" h="433181">
                <a:moveTo>
                  <a:pt x="0" y="75347"/>
                </a:moveTo>
                <a:cubicBezTo>
                  <a:pt x="0" y="116960"/>
                  <a:pt x="80118" y="150694"/>
                  <a:pt x="178949" y="150694"/>
                </a:cubicBezTo>
                <a:cubicBezTo>
                  <a:pt x="277780" y="150694"/>
                  <a:pt x="357898" y="116960"/>
                  <a:pt x="357898" y="75347"/>
                </a:cubicBezTo>
                <a:cubicBezTo>
                  <a:pt x="357898" y="33734"/>
                  <a:pt x="277780" y="0"/>
                  <a:pt x="178949" y="0"/>
                </a:cubicBezTo>
                <a:cubicBezTo>
                  <a:pt x="80118" y="0"/>
                  <a:pt x="0" y="33734"/>
                  <a:pt x="0" y="75347"/>
                </a:cubicBezTo>
                <a:close/>
                <a:moveTo>
                  <a:pt x="223931" y="223724"/>
                </a:moveTo>
                <a:cubicBezTo>
                  <a:pt x="105655" y="235855"/>
                  <a:pt x="0" y="198483"/>
                  <a:pt x="0" y="150675"/>
                </a:cubicBezTo>
                <a:moveTo>
                  <a:pt x="178949" y="310788"/>
                </a:moveTo>
                <a:cubicBezTo>
                  <a:pt x="80131" y="310788"/>
                  <a:pt x="0" y="277089"/>
                  <a:pt x="0" y="235441"/>
                </a:cubicBezTo>
                <a:moveTo>
                  <a:pt x="155158" y="394894"/>
                </a:moveTo>
                <a:cubicBezTo>
                  <a:pt x="67586" y="390015"/>
                  <a:pt x="0" y="358445"/>
                  <a:pt x="0" y="320206"/>
                </a:cubicBezTo>
                <a:lnTo>
                  <a:pt x="0" y="75328"/>
                </a:lnTo>
                <a:moveTo>
                  <a:pt x="357898" y="75347"/>
                </a:moveTo>
                <a:lnTo>
                  <a:pt x="357898" y="178949"/>
                </a:lnTo>
                <a:moveTo>
                  <a:pt x="320225" y="376735"/>
                </a:moveTo>
                <a:lnTo>
                  <a:pt x="320225" y="376735"/>
                </a:lnTo>
                <a:moveTo>
                  <a:pt x="320225" y="376716"/>
                </a:moveTo>
                <a:cubicBezTo>
                  <a:pt x="322826" y="376716"/>
                  <a:pt x="324934" y="378825"/>
                  <a:pt x="324934" y="381426"/>
                </a:cubicBezTo>
                <a:cubicBezTo>
                  <a:pt x="324934" y="384026"/>
                  <a:pt x="322826" y="386135"/>
                  <a:pt x="320225" y="386135"/>
                </a:cubicBezTo>
                <a:cubicBezTo>
                  <a:pt x="317624" y="386135"/>
                  <a:pt x="315516" y="384026"/>
                  <a:pt x="315516" y="381426"/>
                </a:cubicBezTo>
                <a:cubicBezTo>
                  <a:pt x="315516" y="378825"/>
                  <a:pt x="317624" y="376716"/>
                  <a:pt x="320225" y="376716"/>
                </a:cubicBezTo>
                <a:moveTo>
                  <a:pt x="320225" y="282551"/>
                </a:moveTo>
                <a:lnTo>
                  <a:pt x="320225" y="339062"/>
                </a:lnTo>
                <a:moveTo>
                  <a:pt x="336010" y="226022"/>
                </a:moveTo>
                <a:cubicBezTo>
                  <a:pt x="332899" y="220195"/>
                  <a:pt x="326830" y="216557"/>
                  <a:pt x="320225" y="216557"/>
                </a:cubicBezTo>
                <a:cubicBezTo>
                  <a:pt x="313619" y="216557"/>
                  <a:pt x="307551" y="220195"/>
                  <a:pt x="304440" y="226022"/>
                </a:cubicBezTo>
                <a:lnTo>
                  <a:pt x="209201" y="407496"/>
                </a:lnTo>
                <a:cubicBezTo>
                  <a:pt x="206339" y="412934"/>
                  <a:pt x="206561" y="419480"/>
                  <a:pt x="209785" y="424713"/>
                </a:cubicBezTo>
                <a:cubicBezTo>
                  <a:pt x="213041" y="429979"/>
                  <a:pt x="218795" y="433180"/>
                  <a:pt x="224986" y="433170"/>
                </a:cubicBezTo>
                <a:lnTo>
                  <a:pt x="415464" y="433170"/>
                </a:lnTo>
                <a:cubicBezTo>
                  <a:pt x="421651" y="433181"/>
                  <a:pt x="427402" y="429988"/>
                  <a:pt x="430665" y="424731"/>
                </a:cubicBezTo>
                <a:cubicBezTo>
                  <a:pt x="433889" y="419499"/>
                  <a:pt x="434111" y="412953"/>
                  <a:pt x="431249" y="407515"/>
                </a:cubicBezTo>
                <a:close/>
              </a:path>
            </a:pathLst>
          </a:custGeom>
          <a:noFill/>
          <a:ln w="14128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DE1ED8-28CC-C817-C21E-22CFE579A83A}"/>
              </a:ext>
            </a:extLst>
          </p:cNvPr>
          <p:cNvSpPr txBox="1"/>
          <p:nvPr/>
        </p:nvSpPr>
        <p:spPr>
          <a:xfrm>
            <a:off x="6303614" y="4292751"/>
            <a:ext cx="1333698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E0CB15"/>
                </a:solidFill>
                <a:latin typeface="Arial"/>
              </a:rPr>
              <a:t>Service Layer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F50BEC-D7A2-76BA-7E63-6169C6C71AE6}"/>
              </a:ext>
            </a:extLst>
          </p:cNvPr>
          <p:cNvSpPr txBox="1"/>
          <p:nvPr/>
        </p:nvSpPr>
        <p:spPr>
          <a:xfrm>
            <a:off x="6307404" y="4626343"/>
            <a:ext cx="2612895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dirty="0">
                <a:latin typeface="Arial" panose="020B0604020202020204" pitchFamily="34" charset="0"/>
                <a:cs typeface="Arial" panose="020B0604020202020204" pitchFamily="34" charset="0"/>
              </a:rPr>
              <a:t>Detection, risk assessment, and threat
advising</a:t>
            </a:r>
          </a:p>
        </p:txBody>
      </p:sp>
      <p:sp>
        <p:nvSpPr>
          <p:cNvPr id="29" name="Rounded Rectangle 18">
            <a:extLst>
              <a:ext uri="{FF2B5EF4-FFF2-40B4-BE49-F238E27FC236}">
                <a16:creationId xmlns:a16="http://schemas.microsoft.com/office/drawing/2014/main" id="{E4E23FB5-2FE8-A8B5-FBE4-2DA6673EEE2C}"/>
              </a:ext>
            </a:extLst>
          </p:cNvPr>
          <p:cNvSpPr/>
          <p:nvPr/>
        </p:nvSpPr>
        <p:spPr>
          <a:xfrm>
            <a:off x="5616038" y="5308851"/>
            <a:ext cx="433261" cy="431852"/>
          </a:xfrm>
          <a:custGeom>
            <a:avLst/>
            <a:gdLst/>
            <a:ahLst/>
            <a:cxnLst/>
            <a:rect l="0" t="0" r="0" b="0"/>
            <a:pathLst>
              <a:path w="433261" h="431852">
                <a:moveTo>
                  <a:pt x="180682" y="327891"/>
                </a:moveTo>
                <a:lnTo>
                  <a:pt x="39745" y="327891"/>
                </a:lnTo>
                <a:cubicBezTo>
                  <a:pt x="17794" y="327891"/>
                  <a:pt x="0" y="310097"/>
                  <a:pt x="0" y="288146"/>
                </a:cubicBezTo>
                <a:lnTo>
                  <a:pt x="0" y="39745"/>
                </a:lnTo>
                <a:cubicBezTo>
                  <a:pt x="0" y="17794"/>
                  <a:pt x="17794" y="0"/>
                  <a:pt x="39745" y="0"/>
                </a:cubicBezTo>
                <a:lnTo>
                  <a:pt x="337837" y="0"/>
                </a:lnTo>
                <a:cubicBezTo>
                  <a:pt x="359788" y="0"/>
                  <a:pt x="377583" y="17794"/>
                  <a:pt x="377583" y="39745"/>
                </a:cubicBezTo>
                <a:lnTo>
                  <a:pt x="377583" y="179985"/>
                </a:lnTo>
                <a:moveTo>
                  <a:pt x="0" y="77607"/>
                </a:moveTo>
                <a:lnTo>
                  <a:pt x="377583" y="77607"/>
                </a:lnTo>
                <a:moveTo>
                  <a:pt x="0" y="242542"/>
                </a:moveTo>
                <a:lnTo>
                  <a:pt x="180682" y="242542"/>
                </a:lnTo>
                <a:moveTo>
                  <a:pt x="0" y="160206"/>
                </a:moveTo>
                <a:lnTo>
                  <a:pt x="377583" y="160206"/>
                </a:lnTo>
                <a:moveTo>
                  <a:pt x="154216" y="77607"/>
                </a:moveTo>
                <a:lnTo>
                  <a:pt x="154216" y="327891"/>
                </a:lnTo>
                <a:moveTo>
                  <a:pt x="264788" y="77607"/>
                </a:moveTo>
                <a:lnTo>
                  <a:pt x="264788" y="174861"/>
                </a:lnTo>
                <a:moveTo>
                  <a:pt x="235798" y="248532"/>
                </a:moveTo>
                <a:cubicBezTo>
                  <a:pt x="235783" y="271902"/>
                  <a:pt x="279988" y="290851"/>
                  <a:pt x="334522" y="290851"/>
                </a:cubicBezTo>
                <a:cubicBezTo>
                  <a:pt x="389056" y="290851"/>
                  <a:pt x="433261" y="271902"/>
                  <a:pt x="433246" y="248532"/>
                </a:cubicBezTo>
                <a:cubicBezTo>
                  <a:pt x="433261" y="225162"/>
                  <a:pt x="389056" y="206213"/>
                  <a:pt x="334522" y="206213"/>
                </a:cubicBezTo>
                <a:cubicBezTo>
                  <a:pt x="279988" y="206213"/>
                  <a:pt x="235783" y="225162"/>
                  <a:pt x="235798" y="248532"/>
                </a:cubicBezTo>
                <a:moveTo>
                  <a:pt x="235798" y="248513"/>
                </a:moveTo>
                <a:lnTo>
                  <a:pt x="235798" y="319038"/>
                </a:lnTo>
                <a:cubicBezTo>
                  <a:pt x="235798" y="342377"/>
                  <a:pt x="280008" y="361346"/>
                  <a:pt x="334522" y="361346"/>
                </a:cubicBezTo>
                <a:cubicBezTo>
                  <a:pt x="389036" y="361346"/>
                  <a:pt x="433246" y="342396"/>
                  <a:pt x="433246" y="319038"/>
                </a:cubicBezTo>
                <a:lnTo>
                  <a:pt x="433246" y="248513"/>
                </a:lnTo>
                <a:moveTo>
                  <a:pt x="235798" y="319038"/>
                </a:moveTo>
                <a:lnTo>
                  <a:pt x="235798" y="389544"/>
                </a:lnTo>
                <a:cubicBezTo>
                  <a:pt x="235798" y="412902"/>
                  <a:pt x="280008" y="431852"/>
                  <a:pt x="334522" y="431852"/>
                </a:cubicBezTo>
                <a:cubicBezTo>
                  <a:pt x="389036" y="431852"/>
                  <a:pt x="433246" y="412921"/>
                  <a:pt x="433246" y="389544"/>
                </a:cubicBezTo>
                <a:lnTo>
                  <a:pt x="433246" y="319038"/>
                </a:lnTo>
              </a:path>
            </a:pathLst>
          </a:custGeom>
          <a:noFill/>
          <a:ln w="14128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C2C269-1832-C1D3-DAAC-EDC7F93FAD6C}"/>
              </a:ext>
            </a:extLst>
          </p:cNvPr>
          <p:cNvSpPr txBox="1"/>
          <p:nvPr/>
        </p:nvSpPr>
        <p:spPr>
          <a:xfrm>
            <a:off x="6303614" y="5423071"/>
            <a:ext cx="1340371" cy="226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ABDA"/>
                </a:solidFill>
                <a:latin typeface="Arial"/>
              </a:rPr>
              <a:t>Backend Layer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5947E5-3446-77D6-7577-BE1748991E2D}"/>
              </a:ext>
            </a:extLst>
          </p:cNvPr>
          <p:cNvSpPr txBox="1"/>
          <p:nvPr/>
        </p:nvSpPr>
        <p:spPr>
          <a:xfrm>
            <a:off x="6307404" y="5756663"/>
            <a:ext cx="249747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Data access and analysis foundation</a:t>
            </a:r>
            <a:endParaRPr sz="1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2088345-8A5B-2814-C179-6FA01C0D4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BD24-AA3A-3CF1-9AA8-900AF95C70B5}"/>
              </a:ext>
            </a:extLst>
          </p:cNvPr>
          <p:cNvSpPr txBox="1">
            <a:spLocks/>
          </p:cNvSpPr>
          <p:nvPr/>
        </p:nvSpPr>
        <p:spPr>
          <a:xfrm>
            <a:off x="730437" y="821083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 dirty="0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 BLUEPRINT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76258D-2397-2C3E-624C-4A5233E6B2EE}"/>
              </a:ext>
            </a:extLst>
          </p:cNvPr>
          <p:cNvSpPr/>
          <p:nvPr/>
        </p:nvSpPr>
        <p:spPr>
          <a:xfrm>
            <a:off x="1786756" y="2173512"/>
            <a:ext cx="8711921" cy="5895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Layer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(UI for analysis and visualization)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BDA3AA9-531C-94B4-47A8-87AA281114C4}"/>
              </a:ext>
            </a:extLst>
          </p:cNvPr>
          <p:cNvCxnSpPr/>
          <p:nvPr/>
        </p:nvCxnSpPr>
        <p:spPr>
          <a:xfrm>
            <a:off x="2253240" y="4557150"/>
            <a:ext cx="343405" cy="11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ADC9B96B-4F2B-C33D-A2CF-8631AD9ED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717" y="520464"/>
            <a:ext cx="1002036" cy="105131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9B0704-2BC0-56BF-6105-819618291849}"/>
              </a:ext>
            </a:extLst>
          </p:cNvPr>
          <p:cNvSpPr/>
          <p:nvPr/>
        </p:nvSpPr>
        <p:spPr>
          <a:xfrm>
            <a:off x="1786756" y="3186405"/>
            <a:ext cx="8711921" cy="62930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Layer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(End User,Fleet operators)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DE9337-7996-BDE8-903D-2EE4D65E09F1}"/>
              </a:ext>
            </a:extLst>
          </p:cNvPr>
          <p:cNvSpPr/>
          <p:nvPr/>
        </p:nvSpPr>
        <p:spPr>
          <a:xfrm>
            <a:off x="1786757" y="4253572"/>
            <a:ext cx="8711920" cy="62930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 Layer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(Detection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System,Risk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Assesment,Threat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Advisor)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92126D-B87C-5320-905C-2FDAED8641ED}"/>
              </a:ext>
            </a:extLst>
          </p:cNvPr>
          <p:cNvSpPr/>
          <p:nvPr/>
        </p:nvSpPr>
        <p:spPr>
          <a:xfrm>
            <a:off x="1786758" y="5319775"/>
            <a:ext cx="8711919" cy="629305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  Layer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(Data Access and Analysis)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4F1D0BD-9338-4C85-B215-07608E40BB97}"/>
              </a:ext>
            </a:extLst>
          </p:cNvPr>
          <p:cNvCxnSpPr>
            <a:stCxn id="6" idx="2"/>
            <a:endCxn id="3" idx="0"/>
          </p:cNvCxnSpPr>
          <p:nvPr/>
        </p:nvCxnSpPr>
        <p:spPr>
          <a:xfrm>
            <a:off x="6142717" y="2763072"/>
            <a:ext cx="0" cy="423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066FB3-DE42-1796-9BCC-C2F913C5B31F}"/>
              </a:ext>
            </a:extLst>
          </p:cNvPr>
          <p:cNvCxnSpPr/>
          <p:nvPr/>
        </p:nvCxnSpPr>
        <p:spPr>
          <a:xfrm>
            <a:off x="6127469" y="3815710"/>
            <a:ext cx="0" cy="423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833C38-F199-17A1-C7A9-5CA867C68732}"/>
              </a:ext>
            </a:extLst>
          </p:cNvPr>
          <p:cNvCxnSpPr/>
          <p:nvPr/>
        </p:nvCxnSpPr>
        <p:spPr>
          <a:xfrm>
            <a:off x="6095649" y="4882878"/>
            <a:ext cx="0" cy="423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56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86DCB7A6-634A-2780-9E61-89390F578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8BD7FAED-4E8E-17E3-9A26-E47A017A12CD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D52C8353-2CE1-BBD4-C142-0E2ABD1DE801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2C204748-0169-CDFE-7295-AAF53ADE62CE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5CD84464-3DBB-B5B5-C3CB-BDD8C5F71133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CBA93AD7-CD0C-C09C-F0BC-09900B05EDBF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F051060C-A710-029F-D495-EAA70BD5F618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F353DA-7794-0E7B-DCB9-60A0055758D8}"/>
              </a:ext>
            </a:extLst>
          </p:cNvPr>
          <p:cNvSpPr txBox="1">
            <a:spLocks/>
          </p:cNvSpPr>
          <p:nvPr/>
        </p:nvSpPr>
        <p:spPr>
          <a:xfrm>
            <a:off x="793630" y="676900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 SHOTS OF THE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B63CC-9A0E-4EF4-96FA-E2BF2FAEF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30" y="1437619"/>
            <a:ext cx="10210800" cy="451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13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514A035C-8A2E-6667-0023-E485F12E9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7AE50D9A-117E-5401-2211-C281C1A03C09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F271C4C5-08F9-692A-E911-D3FD3940C932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B0658BC8-34E0-2732-E805-16B4774FE603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B573918D-8CBE-5ABF-318B-77176BDF7638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C3160999-0030-ECB5-E0F0-6260978D46BC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34D05526-EB11-42D6-E456-B730C9E8D6DF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38221CD-A199-5E37-06E7-FFC6CDAAD56C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Screen shots of your project 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04AF0B-13AA-472E-BEB2-9C409E48C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2" y="1304113"/>
            <a:ext cx="10341371" cy="497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53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EF54AD-E715-490F-9493-0E6BBF2AA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78" y="838103"/>
            <a:ext cx="10780643" cy="518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91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7E631-879A-C0E4-1AC3-1A65806B0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FFF968-1804-D799-0699-FB59361236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069" t="-1732" r="-2896" b="-760"/>
          <a:stretch>
            <a:fillRect/>
          </a:stretch>
        </p:blipFill>
        <p:spPr>
          <a:xfrm>
            <a:off x="909725" y="373223"/>
            <a:ext cx="10454961" cy="609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3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8928735" y="1747449"/>
            <a:ext cx="2817049" cy="42255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BAC5F37-FC39-28B6-1CB0-135F2372259F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1119828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OF AGENTIC AI  AND GEN AI IN THE SOLUTION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53103C-9894-6F78-414E-FCF51F545C0D}"/>
              </a:ext>
            </a:extLst>
          </p:cNvPr>
          <p:cNvSpPr txBox="1"/>
          <p:nvPr/>
        </p:nvSpPr>
        <p:spPr>
          <a:xfrm>
            <a:off x="327464" y="1513731"/>
            <a:ext cx="8119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A5556B-796F-4BC8-B225-F3FA2E2D2F1E}"/>
              </a:ext>
            </a:extLst>
          </p:cNvPr>
          <p:cNvSpPr txBox="1"/>
          <p:nvPr/>
        </p:nvSpPr>
        <p:spPr>
          <a:xfrm>
            <a:off x="327464" y="1323174"/>
            <a:ext cx="7964481" cy="385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/>
              <a:t>Gen AI translates those raw numerical features into human-readable reasoning and actionable mitigation steps for the analyst.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/>
              <a:t> It powers the </a:t>
            </a:r>
            <a:r>
              <a:rPr lang="en-US" sz="1500" b="1"/>
              <a:t>AI Risk Assessment</a:t>
            </a:r>
            <a:r>
              <a:rPr lang="en-US" sz="1500"/>
              <a:t> on the dashboard, looking at the volume of both Sybil and Sensor alerts simultaneously to generate a prioritized, high-level summary of the fleet's current security posture.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/>
              <a:t>Agentic AI: The </a:t>
            </a:r>
            <a:r>
              <a:rPr lang="en-US" sz="1500" b="1"/>
              <a:t>Threat Advisor</a:t>
            </a:r>
            <a:r>
              <a:rPr lang="en-US" sz="1500"/>
              <a:t> acts as an agent that can "observe" the live status of the dashboard and "reason" over that data to provide situational guidance tailored to the specific threats detected.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/>
              <a:t> It maintains a memory of the conversation and the real-time threat context (e.g., active Sybil alerts), allowing it to behave as an autonomous security assistant that guides the user through complex response protocols step-by-step.</a:t>
            </a:r>
            <a:endParaRPr lang="en-IN"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416CE90F-71E3-21D0-BA78-91A91132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roup 271">
            <a:extLst>
              <a:ext uri="{FF2B5EF4-FFF2-40B4-BE49-F238E27FC236}">
                <a16:creationId xmlns:a16="http://schemas.microsoft.com/office/drawing/2014/main" id="{5A0F0C55-C4ED-73D3-F786-5FA02ACE6D68}"/>
              </a:ext>
            </a:extLst>
          </p:cNvPr>
          <p:cNvGrpSpPr/>
          <p:nvPr/>
        </p:nvGrpSpPr>
        <p:grpSpPr>
          <a:xfrm>
            <a:off x="364675" y="821648"/>
            <a:ext cx="11462650" cy="4973677"/>
            <a:chOff x="457200" y="1257300"/>
            <a:chExt cx="11462650" cy="49736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0A3E513C-EA69-9F5E-4AB9-61B5939A5789}"/>
                </a:ext>
              </a:extLst>
            </p:cNvPr>
            <p:cNvSpPr/>
            <p:nvPr/>
          </p:nvSpPr>
          <p:spPr>
            <a:xfrm>
              <a:off x="1828009" y="2114155"/>
              <a:ext cx="8742020" cy="31219"/>
            </a:xfrm>
            <a:prstGeom prst="line">
              <a:avLst/>
            </a:prstGeom>
            <a:ln w="47625" cap="flat">
              <a:solidFill>
                <a:srgbClr val="8D9193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CD06130-FE37-5A28-174A-727A7CC9FF81}"/>
                </a:ext>
              </a:extLst>
            </p:cNvPr>
            <p:cNvGrpSpPr/>
            <p:nvPr/>
          </p:nvGrpSpPr>
          <p:grpSpPr>
            <a:xfrm>
              <a:off x="1572683" y="2151799"/>
              <a:ext cx="468690" cy="1528270"/>
              <a:chOff x="1779397" y="2456804"/>
              <a:chExt cx="468690" cy="1528270"/>
            </a:xfrm>
          </p:grpSpPr>
          <p:sp>
            <p:nvSpPr>
              <p:cNvPr id="7" name="AutoShape 8">
                <a:extLst>
                  <a:ext uri="{FF2B5EF4-FFF2-40B4-BE49-F238E27FC236}">
                    <a16:creationId xmlns:a16="http://schemas.microsoft.com/office/drawing/2014/main" id="{6F80D0C8-83C8-34E1-8C69-114DE2824A50}"/>
                  </a:ext>
                </a:extLst>
              </p:cNvPr>
              <p:cNvSpPr/>
              <p:nvPr/>
            </p:nvSpPr>
            <p:spPr>
              <a:xfrm flipV="1">
                <a:off x="2013742" y="2456804"/>
                <a:ext cx="0" cy="1296981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" name="Group 15">
                <a:extLst>
                  <a:ext uri="{FF2B5EF4-FFF2-40B4-BE49-F238E27FC236}">
                    <a16:creationId xmlns:a16="http://schemas.microsoft.com/office/drawing/2014/main" id="{B7EE4523-D724-BA6A-443F-0290938CC9C4}"/>
                  </a:ext>
                </a:extLst>
              </p:cNvPr>
              <p:cNvGrpSpPr/>
              <p:nvPr/>
            </p:nvGrpSpPr>
            <p:grpSpPr>
              <a:xfrm rot="-10800000">
                <a:off x="1779397" y="3623616"/>
                <a:ext cx="468690" cy="361458"/>
                <a:chOff x="0" y="0"/>
                <a:chExt cx="922188" cy="711200"/>
              </a:xfrm>
            </p:grpSpPr>
            <p:sp>
              <p:nvSpPr>
                <p:cNvPr id="15" name="Freeform 16">
                  <a:extLst>
                    <a:ext uri="{FF2B5EF4-FFF2-40B4-BE49-F238E27FC236}">
                      <a16:creationId xmlns:a16="http://schemas.microsoft.com/office/drawing/2014/main" id="{871B3BBB-F30C-54B1-2CC6-0CED0C2440EF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9366E4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TextBox 17">
                  <a:extLst>
                    <a:ext uri="{FF2B5EF4-FFF2-40B4-BE49-F238E27FC236}">
                      <a16:creationId xmlns:a16="http://schemas.microsoft.com/office/drawing/2014/main" id="{30C12B85-4224-F44F-3211-CE60E766CF75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DDF31A0C-77BF-EFF2-B1CE-8DA07D90F38C}"/>
                </a:ext>
              </a:extLst>
            </p:cNvPr>
            <p:cNvSpPr txBox="1"/>
            <p:nvPr/>
          </p:nvSpPr>
          <p:spPr>
            <a:xfrm>
              <a:off x="598832" y="4067360"/>
              <a:ext cx="2917136" cy="1399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F3F7E365-9D38-5677-7432-BDFD7217AEB3}"/>
                </a:ext>
              </a:extLst>
            </p:cNvPr>
            <p:cNvGrpSpPr/>
            <p:nvPr/>
          </p:nvGrpSpPr>
          <p:grpSpPr>
            <a:xfrm>
              <a:off x="457200" y="3695947"/>
              <a:ext cx="2656106" cy="2400053"/>
              <a:chOff x="457200" y="3695947"/>
              <a:chExt cx="2656106" cy="2400053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6218766B-427A-8F11-3719-323D25F6AB5B}"/>
                  </a:ext>
                </a:extLst>
              </p:cNvPr>
              <p:cNvSpPr/>
              <p:nvPr/>
            </p:nvSpPr>
            <p:spPr>
              <a:xfrm>
                <a:off x="457200" y="4272889"/>
                <a:ext cx="2656106" cy="1823111"/>
              </a:xfrm>
              <a:prstGeom prst="roundRect">
                <a:avLst>
                  <a:gd name="adj" fmla="val 12163"/>
                </a:avLst>
              </a:prstGeom>
              <a:solidFill>
                <a:srgbClr val="EAE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2">
                <a:extLst>
                  <a:ext uri="{FF2B5EF4-FFF2-40B4-BE49-F238E27FC236}">
                    <a16:creationId xmlns:a16="http://schemas.microsoft.com/office/drawing/2014/main" id="{85D85324-4782-DA38-3181-939FE970DF09}"/>
                  </a:ext>
                </a:extLst>
              </p:cNvPr>
              <p:cNvGrpSpPr/>
              <p:nvPr/>
            </p:nvGrpSpPr>
            <p:grpSpPr>
              <a:xfrm>
                <a:off x="1415368" y="3695947"/>
                <a:ext cx="739770" cy="739770"/>
                <a:chOff x="0" y="0"/>
                <a:chExt cx="812800" cy="812800"/>
              </a:xfrm>
            </p:grpSpPr>
            <p:sp>
              <p:nvSpPr>
                <p:cNvPr id="12" name="Freeform 13">
                  <a:extLst>
                    <a:ext uri="{FF2B5EF4-FFF2-40B4-BE49-F238E27FC236}">
                      <a16:creationId xmlns:a16="http://schemas.microsoft.com/office/drawing/2014/main" id="{00CE095B-0352-5A86-8F44-BFF62C7F233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9366E4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TextBox 14">
                  <a:extLst>
                    <a:ext uri="{FF2B5EF4-FFF2-40B4-BE49-F238E27FC236}">
                      <a16:creationId xmlns:a16="http://schemas.microsoft.com/office/drawing/2014/main" id="{6B67DE5C-1244-20F1-4D7E-9934E36B209E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  <p:sp>
            <p:nvSpPr>
              <p:cNvPr id="17" name="TextBox 67">
                <a:extLst>
                  <a:ext uri="{FF2B5EF4-FFF2-40B4-BE49-F238E27FC236}">
                    <a16:creationId xmlns:a16="http://schemas.microsoft.com/office/drawing/2014/main" id="{CD1AE653-6650-BECC-9548-2BE815B269AE}"/>
                  </a:ext>
                </a:extLst>
              </p:cNvPr>
              <p:cNvSpPr txBox="1"/>
              <p:nvPr/>
            </p:nvSpPr>
            <p:spPr>
              <a:xfrm>
                <a:off x="761081" y="4683959"/>
                <a:ext cx="2142490" cy="125925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285750" lvl="0" indent="-285750" algn="just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Reasoning with AI.</a:t>
                </a:r>
              </a:p>
              <a:p>
                <a:pPr marL="285750" lvl="0" indent="-2857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Logical explanation behind threat detection</a:t>
                </a:r>
              </a:p>
              <a:p>
                <a:pPr lvl="0" algn="just">
                  <a:lnSpc>
                    <a:spcPct val="150000"/>
                  </a:lnSpc>
                  <a:spcBef>
                    <a:spcPct val="0"/>
                  </a:spcBef>
                </a:pPr>
                <a:endParaRPr lang="en-US" dirty="0">
                  <a:solidFill>
                    <a:srgbClr val="1C1C1A"/>
                  </a:solidFill>
                  <a:latin typeface="Calibri" panose="020F0502020204030204" pitchFamily="34" charset="0"/>
                  <a:ea typeface="Montserrat Ultra-Bold"/>
                  <a:cs typeface="Calibri" panose="020F0502020204030204" pitchFamily="34" charset="0"/>
                  <a:sym typeface="Montserrat Ultra-Bold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FAE7F35-4433-6DDF-4A14-A37E74AEFA32}"/>
                </a:ext>
              </a:extLst>
            </p:cNvPr>
            <p:cNvGrpSpPr/>
            <p:nvPr/>
          </p:nvGrpSpPr>
          <p:grpSpPr>
            <a:xfrm>
              <a:off x="4492478" y="2212351"/>
              <a:ext cx="468690" cy="1456833"/>
              <a:chOff x="5529870" y="3148727"/>
              <a:chExt cx="468690" cy="1456833"/>
            </a:xfrm>
          </p:grpSpPr>
          <p:sp>
            <p:nvSpPr>
              <p:cNvPr id="18" name="AutoShape 19">
                <a:extLst>
                  <a:ext uri="{FF2B5EF4-FFF2-40B4-BE49-F238E27FC236}">
                    <a16:creationId xmlns:a16="http://schemas.microsoft.com/office/drawing/2014/main" id="{68A95C0A-FC90-D1AB-6EBA-A467CFF98295}"/>
                  </a:ext>
                </a:extLst>
              </p:cNvPr>
              <p:cNvSpPr/>
              <p:nvPr/>
            </p:nvSpPr>
            <p:spPr>
              <a:xfrm flipV="1">
                <a:off x="5764215" y="3148727"/>
                <a:ext cx="0" cy="1225543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" name="Group 26">
                <a:extLst>
                  <a:ext uri="{FF2B5EF4-FFF2-40B4-BE49-F238E27FC236}">
                    <a16:creationId xmlns:a16="http://schemas.microsoft.com/office/drawing/2014/main" id="{BE2B2AAE-13AA-22E9-4EDC-059C7905D53A}"/>
                  </a:ext>
                </a:extLst>
              </p:cNvPr>
              <p:cNvGrpSpPr/>
              <p:nvPr/>
            </p:nvGrpSpPr>
            <p:grpSpPr>
              <a:xfrm rot="-10800000">
                <a:off x="5529870" y="4244102"/>
                <a:ext cx="468690" cy="361458"/>
                <a:chOff x="0" y="0"/>
                <a:chExt cx="922188" cy="711200"/>
              </a:xfrm>
            </p:grpSpPr>
            <p:sp>
              <p:nvSpPr>
                <p:cNvPr id="20" name="Freeform 27">
                  <a:extLst>
                    <a:ext uri="{FF2B5EF4-FFF2-40B4-BE49-F238E27FC236}">
                      <a16:creationId xmlns:a16="http://schemas.microsoft.com/office/drawing/2014/main" id="{CDC77F88-3FC2-656B-628D-BEF0198EAB68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E46671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TextBox 28">
                  <a:extLst>
                    <a:ext uri="{FF2B5EF4-FFF2-40B4-BE49-F238E27FC236}">
                      <a16:creationId xmlns:a16="http://schemas.microsoft.com/office/drawing/2014/main" id="{B55FB2A9-2596-3DBB-2929-8F12CC8F5F22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8680696-E93E-8A90-6DF3-98C1DBB3E7FA}"/>
                </a:ext>
              </a:extLst>
            </p:cNvPr>
            <p:cNvGrpSpPr/>
            <p:nvPr/>
          </p:nvGrpSpPr>
          <p:grpSpPr>
            <a:xfrm>
              <a:off x="7412273" y="2242251"/>
              <a:ext cx="468690" cy="1426933"/>
              <a:chOff x="8910683" y="3178627"/>
              <a:chExt cx="468690" cy="1426933"/>
            </a:xfrm>
          </p:grpSpPr>
          <p:sp>
            <p:nvSpPr>
              <p:cNvPr id="23" name="AutoShape 29">
                <a:extLst>
                  <a:ext uri="{FF2B5EF4-FFF2-40B4-BE49-F238E27FC236}">
                    <a16:creationId xmlns:a16="http://schemas.microsoft.com/office/drawing/2014/main" id="{6F5E88DF-DEE0-A71A-2B00-86098277BB1A}"/>
                  </a:ext>
                </a:extLst>
              </p:cNvPr>
              <p:cNvSpPr/>
              <p:nvPr/>
            </p:nvSpPr>
            <p:spPr>
              <a:xfrm flipH="1" flipV="1">
                <a:off x="9145028" y="3178627"/>
                <a:ext cx="0" cy="1195643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4" name="Group 37">
                <a:extLst>
                  <a:ext uri="{FF2B5EF4-FFF2-40B4-BE49-F238E27FC236}">
                    <a16:creationId xmlns:a16="http://schemas.microsoft.com/office/drawing/2014/main" id="{91318B96-C54D-C112-5CFD-EF88CD1C8554}"/>
                  </a:ext>
                </a:extLst>
              </p:cNvPr>
              <p:cNvGrpSpPr/>
              <p:nvPr/>
            </p:nvGrpSpPr>
            <p:grpSpPr>
              <a:xfrm rot="-10800000">
                <a:off x="8910683" y="4244102"/>
                <a:ext cx="468690" cy="361458"/>
                <a:chOff x="0" y="0"/>
                <a:chExt cx="922188" cy="711200"/>
              </a:xfrm>
            </p:grpSpPr>
            <p:sp>
              <p:nvSpPr>
                <p:cNvPr id="25" name="Freeform 38">
                  <a:extLst>
                    <a:ext uri="{FF2B5EF4-FFF2-40B4-BE49-F238E27FC236}">
                      <a16:creationId xmlns:a16="http://schemas.microsoft.com/office/drawing/2014/main" id="{9C450C3B-198E-2F11-B744-A2C58DD010F0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38AEB6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TextBox 39">
                  <a:extLst>
                    <a:ext uri="{FF2B5EF4-FFF2-40B4-BE49-F238E27FC236}">
                      <a16:creationId xmlns:a16="http://schemas.microsoft.com/office/drawing/2014/main" id="{53A43635-0848-063B-C694-40304CEEAEEC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7A096F7-8B22-4167-154F-CBC8FB0231B8}"/>
                </a:ext>
              </a:extLst>
            </p:cNvPr>
            <p:cNvGrpSpPr/>
            <p:nvPr/>
          </p:nvGrpSpPr>
          <p:grpSpPr>
            <a:xfrm>
              <a:off x="10332067" y="2161060"/>
              <a:ext cx="468690" cy="1508124"/>
              <a:chOff x="9929296" y="2389865"/>
              <a:chExt cx="468690" cy="1508124"/>
            </a:xfrm>
          </p:grpSpPr>
          <p:sp>
            <p:nvSpPr>
              <p:cNvPr id="28" name="AutoShape 40">
                <a:extLst>
                  <a:ext uri="{FF2B5EF4-FFF2-40B4-BE49-F238E27FC236}">
                    <a16:creationId xmlns:a16="http://schemas.microsoft.com/office/drawing/2014/main" id="{7D290BEB-F88F-CC5C-7524-A7F4C4D72E8D}"/>
                  </a:ext>
                </a:extLst>
              </p:cNvPr>
              <p:cNvSpPr/>
              <p:nvPr/>
            </p:nvSpPr>
            <p:spPr>
              <a:xfrm flipV="1">
                <a:off x="10163641" y="2389865"/>
                <a:ext cx="0" cy="1276833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" name="Group 48">
                <a:extLst>
                  <a:ext uri="{FF2B5EF4-FFF2-40B4-BE49-F238E27FC236}">
                    <a16:creationId xmlns:a16="http://schemas.microsoft.com/office/drawing/2014/main" id="{2FB08FCA-3538-A4AD-8006-6AD754E8D902}"/>
                  </a:ext>
                </a:extLst>
              </p:cNvPr>
              <p:cNvGrpSpPr/>
              <p:nvPr/>
            </p:nvGrpSpPr>
            <p:grpSpPr>
              <a:xfrm rot="-10800000">
                <a:off x="9929296" y="3536531"/>
                <a:ext cx="468690" cy="361458"/>
                <a:chOff x="0" y="0"/>
                <a:chExt cx="922188" cy="711200"/>
              </a:xfrm>
            </p:grpSpPr>
            <p:sp>
              <p:nvSpPr>
                <p:cNvPr id="30" name="Freeform 49">
                  <a:extLst>
                    <a:ext uri="{FF2B5EF4-FFF2-40B4-BE49-F238E27FC236}">
                      <a16:creationId xmlns:a16="http://schemas.microsoft.com/office/drawing/2014/main" id="{E531DA4E-6D4D-D461-9146-7B8DD697B477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DDA707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TextBox 50">
                  <a:extLst>
                    <a:ext uri="{FF2B5EF4-FFF2-40B4-BE49-F238E27FC236}">
                      <a16:creationId xmlns:a16="http://schemas.microsoft.com/office/drawing/2014/main" id="{CE7EDB0A-BC9B-79CB-24BE-2653F5A7A5F1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97FD81C-0149-F0F9-B29B-A63A83016ED6}"/>
                </a:ext>
              </a:extLst>
            </p:cNvPr>
            <p:cNvGrpSpPr/>
            <p:nvPr/>
          </p:nvGrpSpPr>
          <p:grpSpPr>
            <a:xfrm>
              <a:off x="3733137" y="1257300"/>
              <a:ext cx="4725725" cy="1431718"/>
              <a:chOff x="0" y="0"/>
              <a:chExt cx="1491632" cy="536090"/>
            </a:xfrm>
          </p:grpSpPr>
          <p:sp>
            <p:nvSpPr>
              <p:cNvPr id="35" name="Freeform 4">
                <a:extLst>
                  <a:ext uri="{FF2B5EF4-FFF2-40B4-BE49-F238E27FC236}">
                    <a16:creationId xmlns:a16="http://schemas.microsoft.com/office/drawing/2014/main" id="{09479399-83E8-2DB1-55BC-B38C11DDA0E3}"/>
                  </a:ext>
                </a:extLst>
              </p:cNvPr>
              <p:cNvSpPr/>
              <p:nvPr/>
            </p:nvSpPr>
            <p:spPr>
              <a:xfrm>
                <a:off x="0" y="0"/>
                <a:ext cx="1491632" cy="536090"/>
              </a:xfrm>
              <a:custGeom>
                <a:avLst/>
                <a:gdLst/>
                <a:ahLst/>
                <a:cxnLst/>
                <a:rect l="l" t="t" r="r" b="b"/>
                <a:pathLst>
                  <a:path w="1491632" h="536090">
                    <a:moveTo>
                      <a:pt x="49148" y="0"/>
                    </a:moveTo>
                    <a:lnTo>
                      <a:pt x="1442485" y="0"/>
                    </a:lnTo>
                    <a:cubicBezTo>
                      <a:pt x="1455519" y="0"/>
                      <a:pt x="1468020" y="5178"/>
                      <a:pt x="1477237" y="14395"/>
                    </a:cubicBezTo>
                    <a:cubicBezTo>
                      <a:pt x="1486454" y="23612"/>
                      <a:pt x="1491632" y="36113"/>
                      <a:pt x="1491632" y="49148"/>
                    </a:cubicBezTo>
                    <a:lnTo>
                      <a:pt x="1491632" y="486943"/>
                    </a:lnTo>
                    <a:cubicBezTo>
                      <a:pt x="1491632" y="514086"/>
                      <a:pt x="1469628" y="536090"/>
                      <a:pt x="1442485" y="536090"/>
                    </a:cubicBezTo>
                    <a:lnTo>
                      <a:pt x="49148" y="536090"/>
                    </a:lnTo>
                    <a:cubicBezTo>
                      <a:pt x="36113" y="536090"/>
                      <a:pt x="23612" y="530912"/>
                      <a:pt x="14395" y="521695"/>
                    </a:cubicBezTo>
                    <a:cubicBezTo>
                      <a:pt x="5178" y="512478"/>
                      <a:pt x="0" y="499977"/>
                      <a:pt x="0" y="486943"/>
                    </a:cubicBezTo>
                    <a:lnTo>
                      <a:pt x="0" y="49148"/>
                    </a:lnTo>
                    <a:cubicBezTo>
                      <a:pt x="0" y="36113"/>
                      <a:pt x="5178" y="23612"/>
                      <a:pt x="14395" y="14395"/>
                    </a:cubicBezTo>
                    <a:cubicBezTo>
                      <a:pt x="23612" y="5178"/>
                      <a:pt x="36113" y="0"/>
                      <a:pt x="49148" y="0"/>
                    </a:cubicBezTo>
                    <a:close/>
                  </a:path>
                </a:pathLst>
              </a:custGeom>
              <a:solidFill>
                <a:srgbClr val="E6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5DA3D8B-B5DD-7653-F378-8E24EC7A7ED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91632" cy="5741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57C4C512-4ECE-6B9E-EE0A-46CC1EE1C694}"/>
                </a:ext>
              </a:extLst>
            </p:cNvPr>
            <p:cNvSpPr/>
            <p:nvPr/>
          </p:nvSpPr>
          <p:spPr>
            <a:xfrm>
              <a:off x="3378200" y="4272890"/>
              <a:ext cx="2612562" cy="1823110"/>
            </a:xfrm>
            <a:prstGeom prst="roundRect">
              <a:avLst>
                <a:gd name="adj" fmla="val 12163"/>
              </a:avLst>
            </a:prstGeom>
            <a:solidFill>
              <a:srgbClr val="FFBE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" name="Group 12">
              <a:extLst>
                <a:ext uri="{FF2B5EF4-FFF2-40B4-BE49-F238E27FC236}">
                  <a16:creationId xmlns:a16="http://schemas.microsoft.com/office/drawing/2014/main" id="{05D112A7-6BD1-67D3-65D8-FF2E28353C4C}"/>
                </a:ext>
              </a:extLst>
            </p:cNvPr>
            <p:cNvGrpSpPr/>
            <p:nvPr/>
          </p:nvGrpSpPr>
          <p:grpSpPr>
            <a:xfrm>
              <a:off x="4336368" y="3695947"/>
              <a:ext cx="739770" cy="739770"/>
              <a:chOff x="0" y="0"/>
              <a:chExt cx="812800" cy="812800"/>
            </a:xfrm>
          </p:grpSpPr>
          <p:sp>
            <p:nvSpPr>
              <p:cNvPr id="58" name="Freeform 13">
                <a:extLst>
                  <a:ext uri="{FF2B5EF4-FFF2-40B4-BE49-F238E27FC236}">
                    <a16:creationId xmlns:a16="http://schemas.microsoft.com/office/drawing/2014/main" id="{B9857297-281F-4E28-6CA1-D4F6EE50AFA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17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14">
                <a:extLst>
                  <a:ext uri="{FF2B5EF4-FFF2-40B4-BE49-F238E27FC236}">
                    <a16:creationId xmlns:a16="http://schemas.microsoft.com/office/drawing/2014/main" id="{221723EC-4D08-BA6D-10A0-D3745F82D13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  <p:sp>
          <p:nvSpPr>
            <p:cNvPr id="57" name="TextBox 67">
              <a:extLst>
                <a:ext uri="{FF2B5EF4-FFF2-40B4-BE49-F238E27FC236}">
                  <a16:creationId xmlns:a16="http://schemas.microsoft.com/office/drawing/2014/main" id="{0AB801A3-092E-AA3C-1325-8D3A29F9A278}"/>
                </a:ext>
              </a:extLst>
            </p:cNvPr>
            <p:cNvSpPr txBox="1"/>
            <p:nvPr/>
          </p:nvSpPr>
          <p:spPr>
            <a:xfrm>
              <a:off x="3481161" y="4683959"/>
              <a:ext cx="2450184" cy="246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spcBef>
                  <a:spcPct val="0"/>
                </a:spcBef>
              </a:pPr>
              <a:endParaRPr lang="en-US" sz="1600">
                <a:solidFill>
                  <a:srgbClr val="1C1C1A"/>
                </a:solidFill>
                <a:latin typeface="Calibri" panose="020F0502020204030204" pitchFamily="34" charset="0"/>
                <a:ea typeface="Montserrat Ultra-Bold"/>
                <a:cs typeface="Calibri" panose="020F0502020204030204" pitchFamily="34" charset="0"/>
                <a:sym typeface="Montserrat Ultra-Bold"/>
              </a:endParaRPr>
            </a:p>
          </p:txBody>
        </p: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AE630B3-5C58-A2B2-DDEF-E3B80293A1D9}"/>
                </a:ext>
              </a:extLst>
            </p:cNvPr>
            <p:cNvGrpSpPr/>
            <p:nvPr/>
          </p:nvGrpSpPr>
          <p:grpSpPr>
            <a:xfrm>
              <a:off x="6299200" y="3695947"/>
              <a:ext cx="2656106" cy="2535030"/>
              <a:chOff x="6299200" y="3695947"/>
              <a:chExt cx="2656106" cy="2535030"/>
            </a:xfrm>
          </p:grpSpPr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DDD12D05-AB43-5D57-4A54-2E4382BE7029}"/>
                  </a:ext>
                </a:extLst>
              </p:cNvPr>
              <p:cNvSpPr/>
              <p:nvPr/>
            </p:nvSpPr>
            <p:spPr>
              <a:xfrm>
                <a:off x="6299200" y="4272889"/>
                <a:ext cx="2656106" cy="1958088"/>
              </a:xfrm>
              <a:prstGeom prst="roundRect">
                <a:avLst>
                  <a:gd name="adj" fmla="val 12163"/>
                </a:avLst>
              </a:prstGeom>
              <a:solidFill>
                <a:srgbClr val="B5EB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2" name="Group 12">
                <a:extLst>
                  <a:ext uri="{FF2B5EF4-FFF2-40B4-BE49-F238E27FC236}">
                    <a16:creationId xmlns:a16="http://schemas.microsoft.com/office/drawing/2014/main" id="{CE977FBB-2A3F-EA9D-C403-E269865BF7A0}"/>
                  </a:ext>
                </a:extLst>
              </p:cNvPr>
              <p:cNvGrpSpPr/>
              <p:nvPr/>
            </p:nvGrpSpPr>
            <p:grpSpPr>
              <a:xfrm>
                <a:off x="7257368" y="3695947"/>
                <a:ext cx="739770" cy="739770"/>
                <a:chOff x="0" y="0"/>
                <a:chExt cx="812800" cy="812800"/>
              </a:xfrm>
            </p:grpSpPr>
            <p:sp>
              <p:nvSpPr>
                <p:cNvPr id="256" name="Freeform 13">
                  <a:extLst>
                    <a:ext uri="{FF2B5EF4-FFF2-40B4-BE49-F238E27FC236}">
                      <a16:creationId xmlns:a16="http://schemas.microsoft.com/office/drawing/2014/main" id="{F84E8388-7097-537E-A42F-A19963DD601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45CDD7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TextBox 14">
                  <a:extLst>
                    <a:ext uri="{FF2B5EF4-FFF2-40B4-BE49-F238E27FC236}">
                      <a16:creationId xmlns:a16="http://schemas.microsoft.com/office/drawing/2014/main" id="{A85665AF-1AD7-E2AB-4403-E70EF8731BA2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  <p:sp>
            <p:nvSpPr>
              <p:cNvPr id="63" name="TextBox 67">
                <a:extLst>
                  <a:ext uri="{FF2B5EF4-FFF2-40B4-BE49-F238E27FC236}">
                    <a16:creationId xmlns:a16="http://schemas.microsoft.com/office/drawing/2014/main" id="{8EBC4D73-38E9-30E6-95AB-F83325732C60}"/>
                  </a:ext>
                </a:extLst>
              </p:cNvPr>
              <p:cNvSpPr txBox="1"/>
              <p:nvPr/>
            </p:nvSpPr>
            <p:spPr>
              <a:xfrm>
                <a:off x="6400347" y="4683959"/>
                <a:ext cx="2453813" cy="24622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spcBef>
                    <a:spcPct val="0"/>
                  </a:spcBef>
                </a:pPr>
                <a:endParaRPr lang="en-US" sz="1600">
                  <a:solidFill>
                    <a:srgbClr val="1C1C1A"/>
                  </a:solidFill>
                  <a:latin typeface="Calibri" panose="020F0502020204030204" pitchFamily="34" charset="0"/>
                  <a:ea typeface="Montserrat Ultra-Bold"/>
                  <a:cs typeface="Calibri" panose="020F0502020204030204" pitchFamily="34" charset="0"/>
                  <a:sym typeface="Montserrat Ultra-Bold"/>
                </a:endParaRPr>
              </a:p>
            </p:txBody>
          </p:sp>
        </p:grp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E6D60434-4316-155A-0818-987A000FFBCF}"/>
                </a:ext>
              </a:extLst>
            </p:cNvPr>
            <p:cNvGrpSpPr/>
            <p:nvPr/>
          </p:nvGrpSpPr>
          <p:grpSpPr>
            <a:xfrm>
              <a:off x="9263744" y="3695947"/>
              <a:ext cx="2656106" cy="2400053"/>
              <a:chOff x="9220200" y="3695947"/>
              <a:chExt cx="2656106" cy="2400053"/>
            </a:xfrm>
          </p:grpSpPr>
          <p:sp>
            <p:nvSpPr>
              <p:cNvPr id="259" name="Rectangle: Rounded Corners 258">
                <a:extLst>
                  <a:ext uri="{FF2B5EF4-FFF2-40B4-BE49-F238E27FC236}">
                    <a16:creationId xmlns:a16="http://schemas.microsoft.com/office/drawing/2014/main" id="{3F4BAC24-ED77-36E4-A157-80391A5CA286}"/>
                  </a:ext>
                </a:extLst>
              </p:cNvPr>
              <p:cNvSpPr/>
              <p:nvPr/>
            </p:nvSpPr>
            <p:spPr>
              <a:xfrm>
                <a:off x="9220200" y="4272889"/>
                <a:ext cx="2656106" cy="1823111"/>
              </a:xfrm>
              <a:prstGeom prst="roundRect">
                <a:avLst>
                  <a:gd name="adj" fmla="val 12163"/>
                </a:avLst>
              </a:prstGeom>
              <a:solidFill>
                <a:srgbClr val="FFE8A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60" name="Group 12">
                <a:extLst>
                  <a:ext uri="{FF2B5EF4-FFF2-40B4-BE49-F238E27FC236}">
                    <a16:creationId xmlns:a16="http://schemas.microsoft.com/office/drawing/2014/main" id="{8B4E89B2-223F-C7D1-2EFC-13C6A7C5AE2A}"/>
                  </a:ext>
                </a:extLst>
              </p:cNvPr>
              <p:cNvGrpSpPr/>
              <p:nvPr/>
            </p:nvGrpSpPr>
            <p:grpSpPr>
              <a:xfrm>
                <a:off x="10178368" y="3695947"/>
                <a:ext cx="739770" cy="739770"/>
                <a:chOff x="0" y="0"/>
                <a:chExt cx="812800" cy="812800"/>
              </a:xfrm>
            </p:grpSpPr>
            <p:sp>
              <p:nvSpPr>
                <p:cNvPr id="262" name="Freeform 13">
                  <a:extLst>
                    <a:ext uri="{FF2B5EF4-FFF2-40B4-BE49-F238E27FC236}">
                      <a16:creationId xmlns:a16="http://schemas.microsoft.com/office/drawing/2014/main" id="{1B5301FD-63F9-66AE-EFC4-70A1A5F54CF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2B300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TextBox 14">
                  <a:extLst>
                    <a:ext uri="{FF2B5EF4-FFF2-40B4-BE49-F238E27FC236}">
                      <a16:creationId xmlns:a16="http://schemas.microsoft.com/office/drawing/2014/main" id="{E27C0660-7BF6-4D64-7D02-A5DCC3DBEEBA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  <p:sp>
            <p:nvSpPr>
              <p:cNvPr id="261" name="TextBox 67">
                <a:extLst>
                  <a:ext uri="{FF2B5EF4-FFF2-40B4-BE49-F238E27FC236}">
                    <a16:creationId xmlns:a16="http://schemas.microsoft.com/office/drawing/2014/main" id="{91ACEE76-CC5B-17B2-5C4C-3568837A70AE}"/>
                  </a:ext>
                </a:extLst>
              </p:cNvPr>
              <p:cNvSpPr txBox="1"/>
              <p:nvPr/>
            </p:nvSpPr>
            <p:spPr>
              <a:xfrm>
                <a:off x="9345382" y="4683959"/>
                <a:ext cx="2405743" cy="24622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spcBef>
                    <a:spcPct val="0"/>
                  </a:spcBef>
                </a:pPr>
                <a:endParaRPr lang="en-US" sz="1600">
                  <a:solidFill>
                    <a:srgbClr val="1C1C1A"/>
                  </a:solidFill>
                  <a:latin typeface="Calibri" panose="020F0502020204030204" pitchFamily="34" charset="0"/>
                  <a:ea typeface="Montserrat Ultra-Bold"/>
                  <a:cs typeface="Calibri" panose="020F0502020204030204" pitchFamily="34" charset="0"/>
                  <a:sym typeface="Montserrat Ultra-Bold"/>
                </a:endParaRPr>
              </a:p>
            </p:txBody>
          </p:sp>
        </p:grp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811D45E9-C7B4-655D-8AA7-5D019C706921}"/>
                </a:ext>
              </a:extLst>
            </p:cNvPr>
            <p:cNvSpPr txBox="1"/>
            <p:nvPr/>
          </p:nvSpPr>
          <p:spPr>
            <a:xfrm>
              <a:off x="1611085" y="3842658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484C45E9-5698-B4DF-F0E9-EEE2382548E0}"/>
                </a:ext>
              </a:extLst>
            </p:cNvPr>
            <p:cNvSpPr txBox="1"/>
            <p:nvPr/>
          </p:nvSpPr>
          <p:spPr>
            <a:xfrm>
              <a:off x="4528457" y="3864429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948D7C18-0C84-065B-11A8-4AD7B0D132B3}"/>
                </a:ext>
              </a:extLst>
            </p:cNvPr>
            <p:cNvSpPr txBox="1"/>
            <p:nvPr/>
          </p:nvSpPr>
          <p:spPr>
            <a:xfrm>
              <a:off x="7500257" y="3831772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3BB405DF-0F85-5D98-7321-8788D591BE04}"/>
                </a:ext>
              </a:extLst>
            </p:cNvPr>
            <p:cNvSpPr txBox="1"/>
            <p:nvPr/>
          </p:nvSpPr>
          <p:spPr>
            <a:xfrm>
              <a:off x="10439399" y="3842658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71" name="Title 1">
              <a:extLst>
                <a:ext uri="{FF2B5EF4-FFF2-40B4-BE49-F238E27FC236}">
                  <a16:creationId xmlns:a16="http://schemas.microsoft.com/office/drawing/2014/main" id="{3AD084F1-FF05-8B2E-C4EB-73C914FCF854}"/>
                </a:ext>
              </a:extLst>
            </p:cNvPr>
            <p:cNvSpPr txBox="1">
              <a:spLocks/>
            </p:cNvSpPr>
            <p:nvPr/>
          </p:nvSpPr>
          <p:spPr>
            <a:xfrm>
              <a:off x="4005942" y="1638302"/>
              <a:ext cx="4180114" cy="46166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sz="3000" b="1" dirty="0">
                  <a:solidFill>
                    <a:schemeClr val="bg1"/>
                  </a:solidFill>
                  <a:latin typeface="Vodafone Rg" panose="020B0606080202020204" pitchFamily="34" charset="0"/>
                </a:rPr>
                <a:t>Novelty and Uniqueness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75D7643-DB5C-4D2C-9D7F-6A5908CC6599}"/>
              </a:ext>
            </a:extLst>
          </p:cNvPr>
          <p:cNvSpPr txBox="1"/>
          <p:nvPr/>
        </p:nvSpPr>
        <p:spPr>
          <a:xfrm>
            <a:off x="6498077" y="3988860"/>
            <a:ext cx="2699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 </a:t>
            </a:r>
            <a:endParaRPr lang="en-IN"/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6D50F61A-EB57-3865-F24F-722259CC6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0839" y="4133870"/>
            <a:ext cx="2357690" cy="134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Rapid Response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3 - 5 technical mitigation steps which is attack specific.</a:t>
            </a:r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917E0199-6B05-7A17-E2DB-42838FC5F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523" y="4031860"/>
            <a:ext cx="2230112" cy="1668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Threat Advisor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ffers live strategic guidance and provides understanding about the attack to the user.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2C092E-A71B-0674-5861-524635587EB8}"/>
              </a:ext>
            </a:extLst>
          </p:cNvPr>
          <p:cNvSpPr txBox="1"/>
          <p:nvPr/>
        </p:nvSpPr>
        <p:spPr>
          <a:xfrm>
            <a:off x="9399052" y="4052459"/>
            <a:ext cx="2401767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AI Risk Assessment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Reduced burden on fleet managers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allowing to focus on critical scenarios</a:t>
            </a:r>
          </a:p>
        </p:txBody>
      </p:sp>
    </p:spTree>
    <p:extLst>
      <p:ext uri="{BB962C8B-B14F-4D97-AF65-F5344CB8AC3E}">
        <p14:creationId xmlns:p14="http://schemas.microsoft.com/office/powerpoint/2010/main" val="1635342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BC41-7A97-431A-4BB9-3A57BC031021}"/>
              </a:ext>
            </a:extLst>
          </p:cNvPr>
          <p:cNvSpPr txBox="1">
            <a:spLocks/>
          </p:cNvSpPr>
          <p:nvPr/>
        </p:nvSpPr>
        <p:spPr>
          <a:xfrm>
            <a:off x="359227" y="576756"/>
            <a:ext cx="801188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HUB LINK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B7DC98-5EB4-00A1-561D-C73A5BCABE82}"/>
              </a:ext>
            </a:extLst>
          </p:cNvPr>
          <p:cNvGrpSpPr/>
          <p:nvPr/>
        </p:nvGrpSpPr>
        <p:grpSpPr>
          <a:xfrm>
            <a:off x="778331" y="1391478"/>
            <a:ext cx="10621852" cy="4045226"/>
            <a:chOff x="3401785" y="2928256"/>
            <a:chExt cx="5388429" cy="162197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EF1F067-11AE-18AD-C62C-E9076305B692}"/>
                </a:ext>
              </a:extLst>
            </p:cNvPr>
            <p:cNvSpPr/>
            <p:nvPr/>
          </p:nvSpPr>
          <p:spPr>
            <a:xfrm>
              <a:off x="3401785" y="2928256"/>
              <a:ext cx="5388429" cy="1621972"/>
            </a:xfrm>
            <a:prstGeom prst="roundRect">
              <a:avLst/>
            </a:prstGeom>
            <a:solidFill>
              <a:srgbClr val="FFC7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B2712C8-86F6-0B02-2606-114849919F13}"/>
                </a:ext>
              </a:extLst>
            </p:cNvPr>
            <p:cNvSpPr txBox="1"/>
            <p:nvPr/>
          </p:nvSpPr>
          <p:spPr>
            <a:xfrm>
              <a:off x="3902528" y="3221152"/>
              <a:ext cx="4386942" cy="695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spcAft>
                  <a:spcPts val="800"/>
                </a:spcAft>
                <a:buAutoNum type="arabicPeriod"/>
              </a:pPr>
              <a:r>
                <a:rPr 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app.py file -</a:t>
              </a:r>
            </a:p>
            <a:p>
              <a:pPr>
                <a:spcAft>
                  <a:spcPts val="800"/>
                </a:spcAft>
              </a:pPr>
              <a:r>
                <a:rPr 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          https://github.com/swathim5309-droid/sybil_backend/blob/main/main.py</a:t>
              </a:r>
            </a:p>
            <a:p>
              <a:pPr>
                <a:spcAft>
                  <a:spcPts val="800"/>
                </a:spcAft>
              </a:pPr>
              <a:r>
                <a:rPr 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2. your_hackthon_problemstatement.pdf file  </a:t>
              </a:r>
            </a:p>
            <a:p>
              <a:pPr>
                <a:spcAft>
                  <a:spcPts val="800"/>
                </a:spcAft>
              </a:pPr>
              <a:r>
                <a:rPr 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3. your projectpresntation.pptx file </a:t>
              </a:r>
            </a:p>
            <a:p>
              <a:pPr>
                <a:spcAft>
                  <a:spcPts val="800"/>
                </a:spcAft>
              </a:pPr>
              <a:r>
                <a:rPr 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     </a:t>
              </a:r>
              <a:r>
                <a:rPr lang="en-IN" sz="1600" dirty="0">
                  <a:hlinkClick r:id="rId3"/>
                </a:rPr>
                <a:t>swathim5309-droid/</a:t>
              </a:r>
              <a:r>
                <a:rPr lang="en-IN" sz="1600" dirty="0" err="1">
                  <a:hlinkClick r:id="rId3"/>
                </a:rPr>
                <a:t>sybil_backend</a:t>
              </a:r>
              <a:endParaRPr 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D050-BEFF-4AF9-79A5-9F5496DE1969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01188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SCOPE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2FFA9-1350-4CBF-A793-12555DCA2FE2}"/>
              </a:ext>
            </a:extLst>
          </p:cNvPr>
          <p:cNvSpPr txBox="1"/>
          <p:nvPr/>
        </p:nvSpPr>
        <p:spPr>
          <a:xfrm>
            <a:off x="261257" y="1262270"/>
            <a:ext cx="65127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1500"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Implement collaborative learning with other attack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500"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Integrate with advanced simulation </a:t>
            </a:r>
            <a:r>
              <a:rPr lang="en-US" sz="1500" err="1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OMNeT</a:t>
            </a:r>
            <a:r>
              <a:rPr lang="en-US" sz="150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++ and Veins</a:t>
            </a:r>
          </a:p>
          <a:p>
            <a:endParaRPr lang="en-US" sz="1500"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Deployment on cloud native architecture  for large scale computation</a:t>
            </a:r>
            <a:endParaRPr lang="en-IN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4CCAF68-1E69-4A64-B54E-AAD8EE8DE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85522"/>
            <a:ext cx="6086061" cy="342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2166F986-3C94-C86A-E81E-498FB58B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5A38-60B6-4F88-EEC5-02B5D33CB8F2}"/>
              </a:ext>
            </a:extLst>
          </p:cNvPr>
          <p:cNvSpPr txBox="1">
            <a:spLocks/>
          </p:cNvSpPr>
          <p:nvPr/>
        </p:nvSpPr>
        <p:spPr>
          <a:xfrm>
            <a:off x="446316" y="582388"/>
            <a:ext cx="267944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BANK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0FD0F6-17FE-ABF1-7D8E-4A204CDDE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495133"/>
              </p:ext>
            </p:extLst>
          </p:nvPr>
        </p:nvGraphicFramePr>
        <p:xfrm>
          <a:off x="463686" y="1307523"/>
          <a:ext cx="11264628" cy="2133600"/>
        </p:xfrm>
        <a:graphic>
          <a:graphicData uri="http://schemas.openxmlformats.org/drawingml/2006/table">
            <a:tbl>
              <a:tblPr firstRow="1" bandRow="1">
                <a:tableStyleId>{0AAD8F4D-43EB-41E5-8A38-28AB6DFB1B60}</a:tableStyleId>
              </a:tblPr>
              <a:tblGrid>
                <a:gridCol w="1877438">
                  <a:extLst>
                    <a:ext uri="{9D8B030D-6E8A-4147-A177-3AD203B41FA5}">
                      <a16:colId xmlns:a16="http://schemas.microsoft.com/office/drawing/2014/main" val="276395733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68367769"/>
                    </a:ext>
                  </a:extLst>
                </a:gridCol>
                <a:gridCol w="1595871">
                  <a:extLst>
                    <a:ext uri="{9D8B030D-6E8A-4147-A177-3AD203B41FA5}">
                      <a16:colId xmlns:a16="http://schemas.microsoft.com/office/drawing/2014/main" val="3364172202"/>
                    </a:ext>
                  </a:extLst>
                </a:gridCol>
                <a:gridCol w="2159005">
                  <a:extLst>
                    <a:ext uri="{9D8B030D-6E8A-4147-A177-3AD203B41FA5}">
                      <a16:colId xmlns:a16="http://schemas.microsoft.com/office/drawing/2014/main" val="3594999873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3962065889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1446855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Name (as per bank records):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Bank Name</a:t>
                      </a:r>
                      <a:endParaRPr lang="en-US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Branch Name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Account Number</a:t>
                      </a:r>
                      <a:endParaRPr lang="en-US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Account Type (Savings / Current)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IFSC Code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502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Swathi M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Union Bank of India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Bangalore Srinagar Branch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021522010001377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Savings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UBIN0902152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8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Sandhya J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Union Bank of India</a:t>
                      </a:r>
                    </a:p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Rajarajeshwari Nagar branch, Bengaluru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581602010004566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Savings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UBIN0558168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54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Surabhi R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 Bank of India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Basaveshwaranagar,Bengaluru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42712756750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Savings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SBIN0020849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317222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DC4C51AD-861B-F0A7-9A34-F890EFD7A498}"/>
              </a:ext>
            </a:extLst>
          </p:cNvPr>
          <p:cNvGrpSpPr/>
          <p:nvPr/>
        </p:nvGrpSpPr>
        <p:grpSpPr>
          <a:xfrm>
            <a:off x="446316" y="3704593"/>
            <a:ext cx="11431484" cy="2556987"/>
            <a:chOff x="255397" y="3271268"/>
            <a:chExt cx="11431484" cy="318554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01B849-0B51-4A54-09A7-A7F17BA2BA49}"/>
                </a:ext>
              </a:extLst>
            </p:cNvPr>
            <p:cNvGrpSpPr/>
            <p:nvPr/>
          </p:nvGrpSpPr>
          <p:grpSpPr>
            <a:xfrm>
              <a:off x="559441" y="6096434"/>
              <a:ext cx="10977954" cy="360382"/>
              <a:chOff x="559441" y="6096434"/>
              <a:chExt cx="10977954" cy="36038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788107-B3A1-7F7D-432E-A4048656C530}"/>
                  </a:ext>
                </a:extLst>
              </p:cNvPr>
              <p:cNvSpPr txBox="1"/>
              <p:nvPr/>
            </p:nvSpPr>
            <p:spPr>
              <a:xfrm>
                <a:off x="559441" y="6130897"/>
                <a:ext cx="3127663" cy="325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SWATHI M</a:t>
                </a:r>
                <a:endParaRPr lang="en-US" sz="1100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AA0C9B-B378-AB3E-52B3-2DF338D8B0B5}"/>
                  </a:ext>
                </a:extLst>
              </p:cNvPr>
              <p:cNvSpPr txBox="1"/>
              <p:nvPr/>
            </p:nvSpPr>
            <p:spPr>
              <a:xfrm>
                <a:off x="4527613" y="6130897"/>
                <a:ext cx="3127663" cy="325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SANDHYA J</a:t>
                </a:r>
                <a:endParaRPr lang="en-US" sz="11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FBE0B7-6FC9-AEAD-9981-E33461699CF8}"/>
                  </a:ext>
                </a:extLst>
              </p:cNvPr>
              <p:cNvSpPr txBox="1"/>
              <p:nvPr/>
            </p:nvSpPr>
            <p:spPr>
              <a:xfrm>
                <a:off x="8409732" y="6096434"/>
                <a:ext cx="3127663" cy="325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SURABHI R</a:t>
                </a:r>
                <a:endParaRPr lang="en-US" sz="1100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60E05AD-BA99-94A1-3C7A-15C10A72B22C}"/>
                </a:ext>
              </a:extLst>
            </p:cNvPr>
            <p:cNvGrpSpPr/>
            <p:nvPr/>
          </p:nvGrpSpPr>
          <p:grpSpPr>
            <a:xfrm>
              <a:off x="255397" y="3271268"/>
              <a:ext cx="11431484" cy="2658084"/>
              <a:chOff x="255397" y="3271268"/>
              <a:chExt cx="11431484" cy="2658084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7F93F3D-FC83-53FE-2AEE-9566DD5242D6}"/>
                  </a:ext>
                </a:extLst>
              </p:cNvPr>
              <p:cNvSpPr/>
              <p:nvPr/>
            </p:nvSpPr>
            <p:spPr>
              <a:xfrm>
                <a:off x="255397" y="3271268"/>
                <a:ext cx="3738633" cy="2658084"/>
              </a:xfrm>
              <a:prstGeom prst="roundRect">
                <a:avLst>
                  <a:gd name="adj" fmla="val 8078"/>
                </a:avLst>
              </a:prstGeom>
              <a:solidFill>
                <a:schemeClr val="bg1"/>
              </a:solidFill>
              <a:ln>
                <a:solidFill>
                  <a:srgbClr val="E6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430A3EE3-5A8A-BFF9-D978-247718EB408E}"/>
                  </a:ext>
                </a:extLst>
              </p:cNvPr>
              <p:cNvSpPr/>
              <p:nvPr/>
            </p:nvSpPr>
            <p:spPr>
              <a:xfrm>
                <a:off x="4273587" y="3374003"/>
                <a:ext cx="3542547" cy="2507609"/>
              </a:xfrm>
              <a:prstGeom prst="roundRect">
                <a:avLst>
                  <a:gd name="adj" fmla="val 8078"/>
                </a:avLst>
              </a:prstGeom>
              <a:solidFill>
                <a:schemeClr val="bg1"/>
              </a:solidFill>
              <a:ln>
                <a:solidFill>
                  <a:srgbClr val="E6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A77687DA-23EE-879D-DD4F-FCD610ADC41A}"/>
                  </a:ext>
                </a:extLst>
              </p:cNvPr>
              <p:cNvSpPr/>
              <p:nvPr/>
            </p:nvSpPr>
            <p:spPr>
              <a:xfrm>
                <a:off x="7948247" y="3374003"/>
                <a:ext cx="3738634" cy="2555349"/>
              </a:xfrm>
              <a:prstGeom prst="roundRect">
                <a:avLst>
                  <a:gd name="adj" fmla="val 8078"/>
                </a:avLst>
              </a:prstGeom>
              <a:solidFill>
                <a:schemeClr val="bg1"/>
              </a:solidFill>
              <a:ln>
                <a:solidFill>
                  <a:srgbClr val="E6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8F45022-7CD9-2BEE-46F3-628FF628013D}"/>
              </a:ext>
            </a:extLst>
          </p:cNvPr>
          <p:cNvSpPr txBox="1"/>
          <p:nvPr/>
        </p:nvSpPr>
        <p:spPr>
          <a:xfrm>
            <a:off x="1380226" y="4132053"/>
            <a:ext cx="16045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photo of passbook / bank statement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7CBCA-55F9-58ED-148E-12D914D94E20}"/>
              </a:ext>
            </a:extLst>
          </p:cNvPr>
          <p:cNvSpPr txBox="1"/>
          <p:nvPr/>
        </p:nvSpPr>
        <p:spPr>
          <a:xfrm>
            <a:off x="5306162" y="4094672"/>
            <a:ext cx="16045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photo of passbook / bank statement</a:t>
            </a:r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475123-348B-09F4-6C80-99FD2584D366}"/>
              </a:ext>
            </a:extLst>
          </p:cNvPr>
          <p:cNvSpPr txBox="1"/>
          <p:nvPr/>
        </p:nvSpPr>
        <p:spPr>
          <a:xfrm>
            <a:off x="9216804" y="4007627"/>
            <a:ext cx="16045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photo of passbook / bank statement</a:t>
            </a:r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66925C-6D84-C41C-483E-FB92A9A1E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329858" y="3015026"/>
            <a:ext cx="1968670" cy="35127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A82472-1F7E-B290-CF34-BF3A796A5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889" y="3915107"/>
            <a:ext cx="3426944" cy="18426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27166B4-EFFD-556B-5B28-F0F4D4227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389" y="3915106"/>
            <a:ext cx="3612280" cy="178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9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AF80-7103-487F-A54B-15BEEE256378}"/>
              </a:ext>
            </a:extLst>
          </p:cNvPr>
          <p:cNvSpPr txBox="1">
            <a:spLocks/>
          </p:cNvSpPr>
          <p:nvPr/>
        </p:nvSpPr>
        <p:spPr>
          <a:xfrm>
            <a:off x="3952195" y="3044279"/>
            <a:ext cx="4287610" cy="769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>
                <a:solidFill>
                  <a:srgbClr val="A20000"/>
                </a:solidFill>
                <a:latin typeface="Vodafone Rg" panose="020B0606080202020204" pitchFamily="34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ntent Body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ontent Body Part_Inter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899</Words>
  <Application>Microsoft Office PowerPoint</Application>
  <PresentationFormat>Widescreen</PresentationFormat>
  <Paragraphs>161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Aptos</vt:lpstr>
      <vt:lpstr>Arial</vt:lpstr>
      <vt:lpstr>Calibri</vt:lpstr>
      <vt:lpstr>Courier New</vt:lpstr>
      <vt:lpstr>Roboto</vt:lpstr>
      <vt:lpstr>Times New Roman</vt:lpstr>
      <vt:lpstr>Vodafone Rg</vt:lpstr>
      <vt:lpstr>Wingdings</vt:lpstr>
      <vt:lpstr>Blank</vt:lpstr>
      <vt:lpstr>Content Body Slide</vt:lpstr>
      <vt:lpstr>Content Body Part_Internal</vt:lpstr>
      <vt:lpstr>PowerPoint Presentation</vt:lpstr>
      <vt:lpstr>PROJECT TITLE: Real-Time Detection of Sybil &amp; Sensor Spoofing Attacks in Connected Autonomous Vehicles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Surabhi R</cp:lastModifiedBy>
  <cp:revision>5</cp:revision>
  <dcterms:created xsi:type="dcterms:W3CDTF">2025-07-08T05:06:56Z</dcterms:created>
  <dcterms:modified xsi:type="dcterms:W3CDTF">2026-02-12T12:49:56Z</dcterms:modified>
</cp:coreProperties>
</file>